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24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7" r:id="rId11"/>
    <p:sldId id="268" r:id="rId12"/>
    <p:sldId id="270" r:id="rId13"/>
    <p:sldId id="281" r:id="rId14"/>
    <p:sldId id="280" r:id="rId15"/>
    <p:sldId id="278" r:id="rId16"/>
    <p:sldId id="271" r:id="rId17"/>
    <p:sldId id="276" r:id="rId18"/>
    <p:sldId id="279" r:id="rId19"/>
    <p:sldId id="272" r:id="rId20"/>
    <p:sldId id="273" r:id="rId21"/>
    <p:sldId id="269" r:id="rId22"/>
    <p:sldId id="275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2A44"/>
    <a:srgbClr val="00FF00"/>
    <a:srgbClr val="27D9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BB5D42-9E03-49B3-87E8-A8621F9B830D}" v="1" dt="2026-09-24T11:48:00.6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152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LAGNA ROY CREATIONS" userId="8b924c95844e9679" providerId="LiveId" clId="{27E339AA-CB79-42F7-869D-9B36315BBAE9}"/>
    <pc:docChg chg="undo custSel addSld delSld modSld sldOrd">
      <pc:chgData name="SULAGNA ROY CREATIONS" userId="8b924c95844e9679" providerId="LiveId" clId="{27E339AA-CB79-42F7-869D-9B36315BBAE9}" dt="2026-09-24T11:50:54.659" v="665" actId="478"/>
      <pc:docMkLst>
        <pc:docMk/>
      </pc:docMkLst>
      <pc:sldChg chg="delSp modSp mod">
        <pc:chgData name="SULAGNA ROY CREATIONS" userId="8b924c95844e9679" providerId="LiveId" clId="{27E339AA-CB79-42F7-869D-9B36315BBAE9}" dt="2026-09-24T11:50:54.659" v="665" actId="478"/>
        <pc:sldMkLst>
          <pc:docMk/>
          <pc:sldMk cId="0" sldId="257"/>
        </pc:sldMkLst>
        <pc:spChg chg="del mod">
          <ac:chgData name="SULAGNA ROY CREATIONS" userId="8b924c95844e9679" providerId="LiveId" clId="{27E339AA-CB79-42F7-869D-9B36315BBAE9}" dt="2026-09-24T11:50:54.659" v="665" actId="478"/>
          <ac:spMkLst>
            <pc:docMk/>
            <pc:sldMk cId="0" sldId="257"/>
            <ac:spMk id="10" creationId="{00000000-0000-0000-0000-000000000000}"/>
          </ac:spMkLst>
        </pc:spChg>
      </pc:sldChg>
      <pc:sldChg chg="addSp delSp modSp mod">
        <pc:chgData name="SULAGNA ROY CREATIONS" userId="8b924c95844e9679" providerId="LiveId" clId="{27E339AA-CB79-42F7-869D-9B36315BBAE9}" dt="2026-09-24T11:50:42.396" v="663" actId="20577"/>
        <pc:sldMkLst>
          <pc:docMk/>
          <pc:sldMk cId="0" sldId="258"/>
        </pc:sldMkLst>
        <pc:spChg chg="mod">
          <ac:chgData name="SULAGNA ROY CREATIONS" userId="8b924c95844e9679" providerId="LiveId" clId="{27E339AA-CB79-42F7-869D-9B36315BBAE9}" dt="2026-09-24T11:46:41.244" v="614" actId="1076"/>
          <ac:spMkLst>
            <pc:docMk/>
            <pc:sldMk cId="0" sldId="258"/>
            <ac:spMk id="5" creationId="{00000000-0000-0000-0000-000000000000}"/>
          </ac:spMkLst>
        </pc:spChg>
        <pc:spChg chg="add mod">
          <ac:chgData name="SULAGNA ROY CREATIONS" userId="8b924c95844e9679" providerId="LiveId" clId="{27E339AA-CB79-42F7-869D-9B36315BBAE9}" dt="2026-09-24T11:48:14.065" v="632" actId="14100"/>
          <ac:spMkLst>
            <pc:docMk/>
            <pc:sldMk cId="0" sldId="258"/>
            <ac:spMk id="6" creationId="{B7385223-8F33-4704-B729-ED4ADFA521D5}"/>
          </ac:spMkLst>
        </pc:spChg>
        <pc:spChg chg="mod">
          <ac:chgData name="SULAGNA ROY CREATIONS" userId="8b924c95844e9679" providerId="LiveId" clId="{27E339AA-CB79-42F7-869D-9B36315BBAE9}" dt="2026-09-24T11:47:11.080" v="621" actId="14100"/>
          <ac:spMkLst>
            <pc:docMk/>
            <pc:sldMk cId="0" sldId="258"/>
            <ac:spMk id="8" creationId="{00000000-0000-0000-0000-000000000000}"/>
          </ac:spMkLst>
        </pc:spChg>
        <pc:spChg chg="mod">
          <ac:chgData name="SULAGNA ROY CREATIONS" userId="8b924c95844e9679" providerId="LiveId" clId="{27E339AA-CB79-42F7-869D-9B36315BBAE9}" dt="2026-09-24T11:47:18.759" v="623" actId="1076"/>
          <ac:spMkLst>
            <pc:docMk/>
            <pc:sldMk cId="0" sldId="258"/>
            <ac:spMk id="10" creationId="{00000000-0000-0000-0000-000000000000}"/>
          </ac:spMkLst>
        </pc:spChg>
        <pc:spChg chg="add mod">
          <ac:chgData name="SULAGNA ROY CREATIONS" userId="8b924c95844e9679" providerId="LiveId" clId="{27E339AA-CB79-42F7-869D-9B36315BBAE9}" dt="2026-09-24T11:48:37.263" v="636" actId="14100"/>
          <ac:spMkLst>
            <pc:docMk/>
            <pc:sldMk cId="0" sldId="258"/>
            <ac:spMk id="11" creationId="{DD5BF6A9-3350-1496-D0B8-04B2982EA872}"/>
          </ac:spMkLst>
        </pc:spChg>
        <pc:spChg chg="mod">
          <ac:chgData name="SULAGNA ROY CREATIONS" userId="8b924c95844e9679" providerId="LiveId" clId="{27E339AA-CB79-42F7-869D-9B36315BBAE9}" dt="2026-09-24T11:47:21.924" v="624" actId="14100"/>
          <ac:spMkLst>
            <pc:docMk/>
            <pc:sldMk cId="0" sldId="258"/>
            <ac:spMk id="13" creationId="{00000000-0000-0000-0000-000000000000}"/>
          </ac:spMkLst>
        </pc:spChg>
        <pc:spChg chg="add mod">
          <ac:chgData name="SULAGNA ROY CREATIONS" userId="8b924c95844e9679" providerId="LiveId" clId="{27E339AA-CB79-42F7-869D-9B36315BBAE9}" dt="2026-09-24T11:48:52.531" v="639" actId="1076"/>
          <ac:spMkLst>
            <pc:docMk/>
            <pc:sldMk cId="0" sldId="258"/>
            <ac:spMk id="16" creationId="{2C5A2E4D-35D8-2A39-3202-657C00D7FE1E}"/>
          </ac:spMkLst>
        </pc:spChg>
        <pc:spChg chg="mod">
          <ac:chgData name="SULAGNA ROY CREATIONS" userId="8b924c95844e9679" providerId="LiveId" clId="{27E339AA-CB79-42F7-869D-9B36315BBAE9}" dt="2026-09-24T11:47:25.137" v="625" actId="14100"/>
          <ac:spMkLst>
            <pc:docMk/>
            <pc:sldMk cId="0" sldId="258"/>
            <ac:spMk id="18" creationId="{00000000-0000-0000-0000-000000000000}"/>
          </ac:spMkLst>
        </pc:spChg>
        <pc:spChg chg="add mod">
          <ac:chgData name="SULAGNA ROY CREATIONS" userId="8b924c95844e9679" providerId="LiveId" clId="{27E339AA-CB79-42F7-869D-9B36315BBAE9}" dt="2026-09-24T11:49:03.014" v="642" actId="1076"/>
          <ac:spMkLst>
            <pc:docMk/>
            <pc:sldMk cId="0" sldId="258"/>
            <ac:spMk id="21" creationId="{4FC43B9C-0F6E-2610-EA80-D25263C2B7FA}"/>
          </ac:spMkLst>
        </pc:spChg>
        <pc:spChg chg="mod">
          <ac:chgData name="SULAGNA ROY CREATIONS" userId="8b924c95844e9679" providerId="LiveId" clId="{27E339AA-CB79-42F7-869D-9B36315BBAE9}" dt="2026-09-24T11:47:31.767" v="626" actId="14100"/>
          <ac:spMkLst>
            <pc:docMk/>
            <pc:sldMk cId="0" sldId="258"/>
            <ac:spMk id="23" creationId="{00000000-0000-0000-0000-000000000000}"/>
          </ac:spMkLst>
        </pc:spChg>
        <pc:spChg chg="add mod">
          <ac:chgData name="SULAGNA ROY CREATIONS" userId="8b924c95844e9679" providerId="LiveId" clId="{27E339AA-CB79-42F7-869D-9B36315BBAE9}" dt="2026-09-24T11:49:12.780" v="644" actId="1076"/>
          <ac:spMkLst>
            <pc:docMk/>
            <pc:sldMk cId="0" sldId="258"/>
            <ac:spMk id="26" creationId="{F8661455-06D1-F36B-D34C-454D888A2ABA}"/>
          </ac:spMkLst>
        </pc:spChg>
        <pc:spChg chg="mod">
          <ac:chgData name="SULAGNA ROY CREATIONS" userId="8b924c95844e9679" providerId="LiveId" clId="{27E339AA-CB79-42F7-869D-9B36315BBAE9}" dt="2026-09-24T11:47:36.390" v="627" actId="14100"/>
          <ac:spMkLst>
            <pc:docMk/>
            <pc:sldMk cId="0" sldId="258"/>
            <ac:spMk id="28" creationId="{00000000-0000-0000-0000-000000000000}"/>
          </ac:spMkLst>
        </pc:spChg>
        <pc:spChg chg="add mod">
          <ac:chgData name="SULAGNA ROY CREATIONS" userId="8b924c95844e9679" providerId="LiveId" clId="{27E339AA-CB79-42F7-869D-9B36315BBAE9}" dt="2026-09-24T11:49:21.671" v="646" actId="1076"/>
          <ac:spMkLst>
            <pc:docMk/>
            <pc:sldMk cId="0" sldId="258"/>
            <ac:spMk id="29" creationId="{75EF8928-0E51-E146-62D0-570B367278E3}"/>
          </ac:spMkLst>
        </pc:spChg>
        <pc:spChg chg="add mod">
          <ac:chgData name="SULAGNA ROY CREATIONS" userId="8b924c95844e9679" providerId="LiveId" clId="{27E339AA-CB79-42F7-869D-9B36315BBAE9}" dt="2026-09-24T11:50:32.127" v="657" actId="20577"/>
          <ac:spMkLst>
            <pc:docMk/>
            <pc:sldMk cId="0" sldId="258"/>
            <ac:spMk id="33" creationId="{99DF91D2-5B35-DB07-38B1-626B1BB9757F}"/>
          </ac:spMkLst>
        </pc:spChg>
        <pc:spChg chg="add mod">
          <ac:chgData name="SULAGNA ROY CREATIONS" userId="8b924c95844e9679" providerId="LiveId" clId="{27E339AA-CB79-42F7-869D-9B36315BBAE9}" dt="2026-09-24T11:50:35.962" v="659" actId="20577"/>
          <ac:spMkLst>
            <pc:docMk/>
            <pc:sldMk cId="0" sldId="258"/>
            <ac:spMk id="37" creationId="{33854AB9-B964-4214-5F56-2C7212CCDBC7}"/>
          </ac:spMkLst>
        </pc:spChg>
        <pc:spChg chg="add mod">
          <ac:chgData name="SULAGNA ROY CREATIONS" userId="8b924c95844e9679" providerId="LiveId" clId="{27E339AA-CB79-42F7-869D-9B36315BBAE9}" dt="2026-09-24T11:50:39.699" v="661" actId="20577"/>
          <ac:spMkLst>
            <pc:docMk/>
            <pc:sldMk cId="0" sldId="258"/>
            <ac:spMk id="40" creationId="{3A77B286-BFA5-64F0-5850-BCB80D94832B}"/>
          </ac:spMkLst>
        </pc:spChg>
        <pc:spChg chg="add mod">
          <ac:chgData name="SULAGNA ROY CREATIONS" userId="8b924c95844e9679" providerId="LiveId" clId="{27E339AA-CB79-42F7-869D-9B36315BBAE9}" dt="2026-09-24T11:50:42.396" v="663" actId="20577"/>
          <ac:spMkLst>
            <pc:docMk/>
            <pc:sldMk cId="0" sldId="258"/>
            <ac:spMk id="42" creationId="{514A32B1-46C1-8926-B8D8-4DD6FF9EDD4B}"/>
          </ac:spMkLst>
        </pc:spChg>
        <pc:picChg chg="del">
          <ac:chgData name="SULAGNA ROY CREATIONS" userId="8b924c95844e9679" providerId="LiveId" clId="{27E339AA-CB79-42F7-869D-9B36315BBAE9}" dt="2026-09-24T11:46:30.114" v="611" actId="478"/>
          <ac:picMkLst>
            <pc:docMk/>
            <pc:sldMk cId="0" sldId="258"/>
            <ac:picMk id="9" creationId="{5BB8DBC3-E042-45F9-87A0-8AEBEAFD59E6}"/>
          </ac:picMkLst>
        </pc:picChg>
        <pc:picChg chg="add del">
          <ac:chgData name="SULAGNA ROY CREATIONS" userId="8b924c95844e9679" providerId="LiveId" clId="{27E339AA-CB79-42F7-869D-9B36315BBAE9}" dt="2026-09-24T11:46:26.536" v="609" actId="478"/>
          <ac:picMkLst>
            <pc:docMk/>
            <pc:sldMk cId="0" sldId="258"/>
            <ac:picMk id="32" creationId="{BCC8A6F1-14A7-5F70-40FF-D4D528990462}"/>
          </ac:picMkLst>
        </pc:picChg>
        <pc:picChg chg="del">
          <ac:chgData name="SULAGNA ROY CREATIONS" userId="8b924c95844e9679" providerId="LiveId" clId="{27E339AA-CB79-42F7-869D-9B36315BBAE9}" dt="2026-09-24T11:46:28.087" v="610" actId="478"/>
          <ac:picMkLst>
            <pc:docMk/>
            <pc:sldMk cId="0" sldId="258"/>
            <ac:picMk id="34" creationId="{7BE6C2DA-80B9-BED9-0808-B9BA7EF3C1F0}"/>
          </ac:picMkLst>
        </pc:picChg>
        <pc:picChg chg="del">
          <ac:chgData name="SULAGNA ROY CREATIONS" userId="8b924c95844e9679" providerId="LiveId" clId="{27E339AA-CB79-42F7-869D-9B36315BBAE9}" dt="2026-09-24T11:46:31.786" v="612" actId="478"/>
          <ac:picMkLst>
            <pc:docMk/>
            <pc:sldMk cId="0" sldId="258"/>
            <ac:picMk id="36" creationId="{2547E72B-DEBB-6850-8723-360F6D43FCF4}"/>
          </ac:picMkLst>
        </pc:picChg>
        <pc:picChg chg="add del">
          <ac:chgData name="SULAGNA ROY CREATIONS" userId="8b924c95844e9679" providerId="LiveId" clId="{27E339AA-CB79-42F7-869D-9B36315BBAE9}" dt="2026-09-24T11:46:25.075" v="608" actId="478"/>
          <ac:picMkLst>
            <pc:docMk/>
            <pc:sldMk cId="0" sldId="258"/>
            <ac:picMk id="38" creationId="{0FF09049-77B5-9D56-EAEB-BCDF9DEB5E8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CE1512-9704-48A5-B179-49514145B486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17B3C1-C09F-4242-BDA0-A0213F9109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3130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D5FC1-17F2-3BF8-13BC-1F2FC78C5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9F24FC-1290-CFF3-BEC9-226E92E73E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E40F90-33D2-A04D-B42C-101ECEE470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54059C-129A-5072-7C5B-D0F6E82A10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6584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B13EB-F458-4B56-F059-1492B5128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6A9D8E-DBF1-C16A-2986-0E2B0259E2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8181B2-6893-13B7-907F-865A82D7C8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31DA5C-89E8-AD7E-A2FF-995725B1B2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7745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A05BE-A31B-4AC0-A815-BF484C73BC34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3F57B-204C-4368-AD76-1C5699DF51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1848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A05BE-A31B-4AC0-A815-BF484C73BC34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3F57B-204C-4368-AD76-1C5699DF51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2653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A05BE-A31B-4AC0-A815-BF484C73BC34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3F57B-204C-4368-AD76-1C5699DF51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46630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A05BE-A31B-4AC0-A815-BF484C73BC34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3F57B-204C-4368-AD76-1C5699DF51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09197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A05BE-A31B-4AC0-A815-BF484C73BC34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3F57B-204C-4368-AD76-1C5699DF51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4838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A05BE-A31B-4AC0-A815-BF484C73BC34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3F57B-204C-4368-AD76-1C5699DF51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92388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A05BE-A31B-4AC0-A815-BF484C73BC34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3F57B-204C-4368-AD76-1C5699DF51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2826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A05BE-A31B-4AC0-A815-BF484C73BC34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3F57B-204C-4368-AD76-1C5699DF51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0290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A05BE-A31B-4AC0-A815-BF484C73BC34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3F57B-204C-4368-AD76-1C5699DF51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253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A05BE-A31B-4AC0-A815-BF484C73BC34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3F57B-204C-4368-AD76-1C5699DF51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29980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A05BE-A31B-4AC0-A815-BF484C73BC34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3F57B-204C-4368-AD76-1C5699DF51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50300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3193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00DA05BE-A31B-4AC0-A815-BF484C73BC34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BE03F57B-204C-4368-AD76-1C5699DF51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8113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slide" Target="slide9.xml"/><Relationship Id="rId5" Type="http://schemas.openxmlformats.org/officeDocument/2006/relationships/slide" Target="slide8.xml"/><Relationship Id="rId4" Type="http://schemas.openxmlformats.org/officeDocument/2006/relationships/slide" Target="slide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file:///C:\Users\sulag\OneDrive\Desktop\ML_GROUP%20PROJECT\Boston.csv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.png"/><Relationship Id="rId4" Type="http://schemas.openxmlformats.org/officeDocument/2006/relationships/slide" Target="slid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slide" Target="slid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slide" Target="slid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slide" Target="slide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48" y="-882396"/>
            <a:ext cx="3840480" cy="3840480"/>
          </a:xfrm>
          <a:prstGeom prst="ellipse">
            <a:avLst/>
          </a:prstGeom>
          <a:solidFill>
            <a:srgbClr val="2F40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222992" y="4434840"/>
            <a:ext cx="2743200" cy="2743200"/>
          </a:xfrm>
          <a:prstGeom prst="ellipse">
            <a:avLst/>
          </a:prstGeom>
          <a:solidFill>
            <a:srgbClr val="2F40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22960" y="139903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30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OF MEDIAN HOME VALUE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2249424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Comparative Study on the Boston Housing Dataset</a:t>
            </a:r>
          </a:p>
          <a:p>
            <a:pPr marL="0" indent="0">
              <a:buNone/>
            </a:pPr>
            <a:r>
              <a:rPr lang="en-US" sz="4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</a:rPr>
              <a:t>(Housing Values in suburbs of Boston)</a:t>
            </a:r>
            <a:endParaRPr lang="en-US" sz="4000" dirty="0">
              <a:solidFill>
                <a:schemeClr val="tx2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3557016"/>
            <a:ext cx="96012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Multiple Linear Regression  vs.  Decision Tree</a:t>
            </a:r>
            <a:endParaRPr lang="en-US" sz="20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60983" y="4251960"/>
            <a:ext cx="2011680" cy="0"/>
          </a:xfrm>
          <a:prstGeom prst="line">
            <a:avLst/>
          </a:prstGeom>
          <a:noFill/>
          <a:ln w="31750">
            <a:solidFill>
              <a:srgbClr val="C165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22960" y="43434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 &amp; Machine Learning  •  MSc Data Science, Semester 3</a:t>
            </a:r>
            <a:endParaRPr lang="en-US" sz="1600" b="1" dirty="0"/>
          </a:p>
        </p:txBody>
      </p:sp>
      <p:sp>
        <p:nvSpPr>
          <p:cNvPr id="9" name="Text 7"/>
          <p:cNvSpPr/>
          <p:nvPr/>
        </p:nvSpPr>
        <p:spPr>
          <a:xfrm>
            <a:off x="822960" y="468172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St. Xavier's College (Autonomous), Kolkata  •  Batch 2025–2027</a:t>
            </a:r>
            <a:endParaRPr lang="en-US" sz="1600" b="1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TEAM</a:t>
            </a:r>
            <a:endParaRPr lang="en-US" sz="2000" b="1" dirty="0">
              <a:solidFill>
                <a:schemeClr val="accent2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Members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07592"/>
            <a:ext cx="10515600" cy="347472"/>
          </a:xfrm>
          <a:prstGeom prst="rect">
            <a:avLst/>
          </a:prstGeom>
          <a:solidFill>
            <a:schemeClr val="tx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Semester 3, MSc Data Science (2025–2027) — St. Xavier's College (Autonomous), Kolkata</a:t>
            </a: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2084832" cy="3200400"/>
          </a:xfrm>
          <a:prstGeom prst="roundRect">
            <a:avLst>
              <a:gd name="adj" fmla="val 5263"/>
            </a:avLst>
          </a:prstGeom>
          <a:solidFill>
            <a:schemeClr val="tx2">
              <a:lumMod val="10000"/>
              <a:lumOff val="90000"/>
            </a:schemeClr>
          </a:solidFill>
          <a:ln/>
          <a:effectLst>
            <a:outerShdw blurRad="101600" dist="38100" dir="5400000" algn="bl" rotWithShape="0">
              <a:srgbClr val="1E2A44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996696" y="23317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000" dirty="0">
              <a:solidFill>
                <a:srgbClr val="FFFF00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3870960"/>
            <a:ext cx="190195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Priyanshu Dey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2775204" y="1965960"/>
            <a:ext cx="2084832" cy="3200400"/>
          </a:xfrm>
          <a:prstGeom prst="roundRect">
            <a:avLst>
              <a:gd name="adj" fmla="val 5263"/>
            </a:avLst>
          </a:prstGeom>
          <a:solidFill>
            <a:schemeClr val="tx2">
              <a:lumMod val="10000"/>
              <a:lumOff val="90000"/>
            </a:schemeClr>
          </a:solidFill>
          <a:ln/>
          <a:effectLst>
            <a:outerShdw blurRad="101600" dist="38100" dir="5400000" algn="bl" rotWithShape="0">
              <a:srgbClr val="1E2A44">
                <a:alpha val="1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2" name="Text 10"/>
          <p:cNvSpPr/>
          <p:nvPr/>
        </p:nvSpPr>
        <p:spPr>
          <a:xfrm>
            <a:off x="3282696" y="23317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000" dirty="0">
              <a:solidFill>
                <a:srgbClr val="FFFF00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2834640" y="3703320"/>
            <a:ext cx="1901952" cy="2107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Oindrila Chakraborty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063490" y="1965960"/>
            <a:ext cx="2084832" cy="3200400"/>
          </a:xfrm>
          <a:prstGeom prst="roundRect">
            <a:avLst>
              <a:gd name="adj" fmla="val 5263"/>
            </a:avLst>
          </a:prstGeom>
          <a:solidFill>
            <a:schemeClr val="tx2">
              <a:lumMod val="10000"/>
              <a:lumOff val="90000"/>
            </a:schemeClr>
          </a:solidFill>
          <a:ln/>
          <a:effectLst>
            <a:outerShdw blurRad="101600" dist="38100" dir="5400000" algn="bl" rotWithShape="0">
              <a:srgbClr val="1E2A44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568696" y="23317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000" dirty="0">
              <a:solidFill>
                <a:srgbClr val="FFFF00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5120640" y="3870960"/>
            <a:ext cx="1901952" cy="1505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Anubrata Roy</a:t>
            </a: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7351776" y="1938945"/>
            <a:ext cx="2084832" cy="3200400"/>
          </a:xfrm>
          <a:prstGeom prst="roundRect">
            <a:avLst>
              <a:gd name="adj" fmla="val 5263"/>
            </a:avLst>
          </a:prstGeom>
          <a:solidFill>
            <a:schemeClr val="tx2">
              <a:lumMod val="10000"/>
              <a:lumOff val="90000"/>
            </a:schemeClr>
          </a:solidFill>
          <a:ln/>
          <a:effectLst>
            <a:outerShdw blurRad="101600" dist="38100" dir="5400000" algn="bl" rotWithShape="0">
              <a:srgbClr val="1E2A44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7854696" y="23317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000" dirty="0">
              <a:solidFill>
                <a:srgbClr val="FFFF00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7406640" y="3870960"/>
            <a:ext cx="190195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Sulagna Roy</a:t>
            </a: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9601200" y="1965960"/>
            <a:ext cx="2084832" cy="3200400"/>
          </a:xfrm>
          <a:prstGeom prst="roundRect">
            <a:avLst>
              <a:gd name="adj" fmla="val 5263"/>
            </a:avLst>
          </a:prstGeom>
          <a:solidFill>
            <a:schemeClr val="tx2">
              <a:lumMod val="10000"/>
              <a:lumOff val="90000"/>
            </a:schemeClr>
          </a:solidFill>
          <a:ln/>
          <a:effectLst>
            <a:outerShdw blurRad="101600" dist="38100" dir="5400000" algn="bl" rotWithShape="0">
              <a:srgbClr val="1E2A44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9692640" y="3870960"/>
            <a:ext cx="1901952" cy="17629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Apratim Dey Tapadar</a:t>
            </a: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7385223-8F33-4704-B729-ED4ADFA521D5}"/>
              </a:ext>
            </a:extLst>
          </p:cNvPr>
          <p:cNvSpPr/>
          <p:nvPr/>
        </p:nvSpPr>
        <p:spPr>
          <a:xfrm>
            <a:off x="1097280" y="2724911"/>
            <a:ext cx="786384" cy="7955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5BF6A9-3350-1496-D0B8-04B2982EA872}"/>
              </a:ext>
            </a:extLst>
          </p:cNvPr>
          <p:cNvSpPr txBox="1"/>
          <p:nvPr/>
        </p:nvSpPr>
        <p:spPr>
          <a:xfrm>
            <a:off x="1344168" y="2935224"/>
            <a:ext cx="384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C5A2E4D-35D8-2A39-3202-657C00D7FE1E}"/>
              </a:ext>
            </a:extLst>
          </p:cNvPr>
          <p:cNvSpPr/>
          <p:nvPr/>
        </p:nvSpPr>
        <p:spPr>
          <a:xfrm>
            <a:off x="3502152" y="2743616"/>
            <a:ext cx="786384" cy="7955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FC43B9C-0F6E-2610-EA80-D25263C2B7FA}"/>
              </a:ext>
            </a:extLst>
          </p:cNvPr>
          <p:cNvSpPr/>
          <p:nvPr/>
        </p:nvSpPr>
        <p:spPr>
          <a:xfrm>
            <a:off x="5751576" y="2764535"/>
            <a:ext cx="786384" cy="7955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F8661455-06D1-F36B-D34C-454D888A2ABA}"/>
              </a:ext>
            </a:extLst>
          </p:cNvPr>
          <p:cNvSpPr/>
          <p:nvPr/>
        </p:nvSpPr>
        <p:spPr>
          <a:xfrm>
            <a:off x="8001000" y="2765476"/>
            <a:ext cx="786384" cy="7955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5EF8928-0E51-E146-62D0-570B367278E3}"/>
              </a:ext>
            </a:extLst>
          </p:cNvPr>
          <p:cNvSpPr/>
          <p:nvPr/>
        </p:nvSpPr>
        <p:spPr>
          <a:xfrm>
            <a:off x="10308336" y="2819924"/>
            <a:ext cx="786384" cy="7955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9DF91D2-5B35-DB07-38B1-626B1BB9757F}"/>
              </a:ext>
            </a:extLst>
          </p:cNvPr>
          <p:cNvSpPr txBox="1"/>
          <p:nvPr/>
        </p:nvSpPr>
        <p:spPr>
          <a:xfrm>
            <a:off x="3730752" y="2944368"/>
            <a:ext cx="384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3854AB9-B964-4214-5F56-2C7212CCDBC7}"/>
              </a:ext>
            </a:extLst>
          </p:cNvPr>
          <p:cNvSpPr txBox="1"/>
          <p:nvPr/>
        </p:nvSpPr>
        <p:spPr>
          <a:xfrm>
            <a:off x="6045327" y="2968228"/>
            <a:ext cx="451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A77B286-BFA5-64F0-5850-BCB80D94832B}"/>
              </a:ext>
            </a:extLst>
          </p:cNvPr>
          <p:cNvSpPr txBox="1"/>
          <p:nvPr/>
        </p:nvSpPr>
        <p:spPr>
          <a:xfrm>
            <a:off x="8220456" y="2977633"/>
            <a:ext cx="451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14A32B1-46C1-8926-B8D8-4DD6FF9EDD4B}"/>
              </a:ext>
            </a:extLst>
          </p:cNvPr>
          <p:cNvSpPr txBox="1"/>
          <p:nvPr/>
        </p:nvSpPr>
        <p:spPr>
          <a:xfrm>
            <a:off x="10521696" y="3067812"/>
            <a:ext cx="451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CONTEXT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Set Out to 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6400800" cy="4572000"/>
          </a:xfrm>
          <a:prstGeom prst="roundRect">
            <a:avLst>
              <a:gd name="adj" fmla="val 2000"/>
            </a:avLst>
          </a:prstGeom>
          <a:solidFill>
            <a:schemeClr val="bg2">
              <a:lumMod val="10000"/>
              <a:lumOff val="9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57607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b="1" u="sng" dirty="0">
                <a:solidFill>
                  <a:schemeClr val="tx2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Subject: 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b="1" dirty="0">
                <a:solidFill>
                  <a:schemeClr val="tx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Predictive Analytics &amp; Machine Learning</a:t>
            </a:r>
            <a:r>
              <a:rPr lang="en-US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b="1" u="sng" dirty="0">
                <a:solidFill>
                  <a:schemeClr val="tx2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Topic: 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b="1" i="1" dirty="0">
                <a:solidFill>
                  <a:schemeClr val="tx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Prediction of </a:t>
            </a:r>
            <a:r>
              <a:rPr lang="en-US" b="1" i="1" dirty="0" err="1">
                <a:solidFill>
                  <a:schemeClr val="tx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medv</a:t>
            </a:r>
            <a:r>
              <a:rPr lang="en-US" b="1" i="1" dirty="0">
                <a:solidFill>
                  <a:schemeClr val="tx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(median owner-occupied home value) variable from the Boston Housing dataset.
</a:t>
            </a: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b="1" u="sng" dirty="0">
                <a:solidFill>
                  <a:schemeClr val="tx2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Goal: 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b="1" i="1" dirty="0">
                <a:solidFill>
                  <a:schemeClr val="tx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Build and compare two predictive approaches — a parametric model and a non-parametric model — using an identical train-test split, so the comparison is fair.</a:t>
            </a:r>
            <a:endParaRPr lang="en-US" b="1" i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178040" y="1737360"/>
            <a:ext cx="4553712" cy="1828800"/>
          </a:xfrm>
          <a:prstGeom prst="roundRect">
            <a:avLst>
              <a:gd name="adj" fmla="val 5000"/>
            </a:avLst>
          </a:prstGeom>
          <a:solidFill>
            <a:srgbClr val="002060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7" name="Text 5"/>
          <p:cNvSpPr/>
          <p:nvPr/>
        </p:nvSpPr>
        <p:spPr>
          <a:xfrm>
            <a:off x="7452360" y="1938528"/>
            <a:ext cx="40050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C000"/>
                </a:solidFill>
                <a:latin typeface="Bodoni MT Black" panose="02070A03080606020203" pitchFamily="18" charset="0"/>
                <a:ea typeface="Calibri" pitchFamily="34" charset="-122"/>
                <a:cs typeface="Calibri" pitchFamily="34" charset="-120"/>
              </a:rPr>
              <a:t>APPROACH 1</a:t>
            </a:r>
            <a:endParaRPr lang="en-US" sz="1400" b="1" dirty="0">
              <a:solidFill>
                <a:srgbClr val="FFC000"/>
              </a:solidFill>
              <a:latin typeface="Bodoni MT Black" panose="02070A03080606020203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452360" y="2240280"/>
            <a:ext cx="40050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Multiple Linear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Regression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452360" y="3154680"/>
            <a:ext cx="40050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CADCFC"/>
                </a:solidFill>
                <a:ea typeface="Calibri" pitchFamily="34" charset="-122"/>
                <a:cs typeface="Times New Roman" panose="02020603050405020304" pitchFamily="18" charset="0"/>
              </a:rPr>
              <a:t>Parametric approach (</a:t>
            </a:r>
            <a:r>
              <a:rPr lang="en-US" sz="1200" b="1" i="1">
                <a:solidFill>
                  <a:srgbClr val="CADCFC"/>
                </a:solidFill>
                <a:ea typeface="Calibri" pitchFamily="34" charset="-122"/>
                <a:cs typeface="Times New Roman" panose="02020603050405020304" pitchFamily="18" charset="0"/>
              </a:rPr>
              <a:t>scaled predictors)</a:t>
            </a:r>
            <a:endParaRPr lang="en-US" sz="1200" b="1" dirty="0"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178040" y="3931920"/>
            <a:ext cx="4553712" cy="1828800"/>
          </a:xfrm>
          <a:prstGeom prst="roundRect">
            <a:avLst>
              <a:gd name="adj" fmla="val 5000"/>
            </a:avLst>
          </a:prstGeom>
          <a:solidFill>
            <a:srgbClr val="0020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452360" y="4133088"/>
            <a:ext cx="40050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C000"/>
                </a:solidFill>
                <a:latin typeface="Bodoni MT Black" panose="02070A03080606020203" pitchFamily="18" charset="0"/>
                <a:ea typeface="Calibri" pitchFamily="34" charset="-122"/>
                <a:cs typeface="Calibri" pitchFamily="34" charset="-120"/>
              </a:rPr>
              <a:t>APPROACH 2</a:t>
            </a:r>
            <a:endParaRPr lang="en-US" sz="1400" dirty="0">
              <a:solidFill>
                <a:srgbClr val="FFC000"/>
              </a:solidFill>
              <a:latin typeface="Bodoni MT Black" panose="02070A03080606020203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452360" y="4434840"/>
            <a:ext cx="40050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Tree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452360" y="5074920"/>
            <a:ext cx="40050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EAF0F6"/>
                </a:solidFill>
                <a:ea typeface="Calibri" pitchFamily="34" charset="-122"/>
                <a:cs typeface="Times New Roman" panose="02020603050405020304" pitchFamily="18" charset="0"/>
              </a:rPr>
              <a:t>Non-parametric approach (scaled predictors)</a:t>
            </a:r>
            <a:endParaRPr lang="en-US" sz="1200" b="1" dirty="0"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DICTIONARY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14 Variables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536192"/>
            <a:ext cx="5440680" cy="425196"/>
          </a:xfrm>
          <a:prstGeom prst="roundRect">
            <a:avLst>
              <a:gd name="adj" fmla="val 10753"/>
            </a:avLst>
          </a:prstGeom>
          <a:solidFill>
            <a:srgbClr val="EEF1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58368" y="1536192"/>
            <a:ext cx="914400" cy="4251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7A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crim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600200" y="1536192"/>
            <a:ext cx="4297680" cy="4251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Per-capita crime rate by town</a:t>
            </a:r>
            <a:endParaRPr lang="en-US" sz="1600" b="1" dirty="0"/>
          </a:p>
        </p:txBody>
      </p:sp>
      <p:sp>
        <p:nvSpPr>
          <p:cNvPr id="7" name="Shape 5"/>
          <p:cNvSpPr/>
          <p:nvPr/>
        </p:nvSpPr>
        <p:spPr>
          <a:xfrm>
            <a:off x="548640" y="2025396"/>
            <a:ext cx="5440680" cy="425196"/>
          </a:xfrm>
          <a:prstGeom prst="roundRect">
            <a:avLst>
              <a:gd name="adj" fmla="val 10753"/>
            </a:avLst>
          </a:prstGeom>
          <a:solidFill>
            <a:srgbClr val="EEF1F6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8" name="Text 6"/>
          <p:cNvSpPr/>
          <p:nvPr/>
        </p:nvSpPr>
        <p:spPr>
          <a:xfrm>
            <a:off x="658368" y="2025396"/>
            <a:ext cx="914400" cy="4251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7A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zn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600200" y="2025396"/>
            <a:ext cx="4297680" cy="4251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residential land zoned for lots  over 25,000 sq ft</a:t>
            </a:r>
            <a:endParaRPr lang="en-US" sz="1400" b="1" dirty="0"/>
          </a:p>
        </p:txBody>
      </p:sp>
      <p:sp>
        <p:nvSpPr>
          <p:cNvPr id="10" name="Shape 8"/>
          <p:cNvSpPr/>
          <p:nvPr/>
        </p:nvSpPr>
        <p:spPr>
          <a:xfrm>
            <a:off x="548640" y="2514600"/>
            <a:ext cx="5440680" cy="425196"/>
          </a:xfrm>
          <a:prstGeom prst="roundRect">
            <a:avLst>
              <a:gd name="adj" fmla="val 10753"/>
            </a:avLst>
          </a:prstGeom>
          <a:solidFill>
            <a:srgbClr val="EEF1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58368" y="2514600"/>
            <a:ext cx="914400" cy="4251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7A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indus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600200" y="2514600"/>
            <a:ext cx="4297680" cy="4251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non-retail business acres per town</a:t>
            </a:r>
            <a:endParaRPr lang="en-US" sz="1400" b="1" dirty="0"/>
          </a:p>
        </p:txBody>
      </p:sp>
      <p:sp>
        <p:nvSpPr>
          <p:cNvPr id="13" name="Shape 11"/>
          <p:cNvSpPr/>
          <p:nvPr/>
        </p:nvSpPr>
        <p:spPr>
          <a:xfrm>
            <a:off x="548640" y="3003804"/>
            <a:ext cx="5440680" cy="425196"/>
          </a:xfrm>
          <a:prstGeom prst="roundRect">
            <a:avLst>
              <a:gd name="adj" fmla="val 10753"/>
            </a:avLst>
          </a:prstGeom>
          <a:solidFill>
            <a:srgbClr val="EEF1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58368" y="3003804"/>
            <a:ext cx="914400" cy="4251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7A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chas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600200" y="3003804"/>
            <a:ext cx="4297680" cy="4251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Charles River dummy (1 = tract bounds river, 0 = otherwise)</a:t>
            </a:r>
            <a:endParaRPr lang="en-US" sz="1200" b="1" dirty="0"/>
          </a:p>
        </p:txBody>
      </p:sp>
      <p:sp>
        <p:nvSpPr>
          <p:cNvPr id="16" name="Shape 14"/>
          <p:cNvSpPr/>
          <p:nvPr/>
        </p:nvSpPr>
        <p:spPr>
          <a:xfrm>
            <a:off x="548640" y="3493008"/>
            <a:ext cx="5440680" cy="425196"/>
          </a:xfrm>
          <a:prstGeom prst="roundRect">
            <a:avLst>
              <a:gd name="adj" fmla="val 10753"/>
            </a:avLst>
          </a:prstGeom>
          <a:solidFill>
            <a:srgbClr val="EEF1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58368" y="3493008"/>
            <a:ext cx="914400" cy="4251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7A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nox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600200" y="3493008"/>
            <a:ext cx="4297680" cy="4251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Nitric oxide concentration (parts per 10 million)</a:t>
            </a:r>
            <a:endParaRPr lang="en-US" sz="1400" b="1" dirty="0"/>
          </a:p>
        </p:txBody>
      </p:sp>
      <p:sp>
        <p:nvSpPr>
          <p:cNvPr id="19" name="Shape 17"/>
          <p:cNvSpPr/>
          <p:nvPr/>
        </p:nvSpPr>
        <p:spPr>
          <a:xfrm>
            <a:off x="548640" y="3982212"/>
            <a:ext cx="5440680" cy="425196"/>
          </a:xfrm>
          <a:prstGeom prst="roundRect">
            <a:avLst>
              <a:gd name="adj" fmla="val 10753"/>
            </a:avLst>
          </a:prstGeom>
          <a:solidFill>
            <a:srgbClr val="EEF1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58368" y="3982212"/>
            <a:ext cx="914400" cy="4251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7A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rm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600200" y="3982212"/>
            <a:ext cx="4297680" cy="4251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number of rooms per dwelling</a:t>
            </a:r>
            <a:endParaRPr lang="en-US" sz="1400" b="1" dirty="0"/>
          </a:p>
        </p:txBody>
      </p:sp>
      <p:sp>
        <p:nvSpPr>
          <p:cNvPr id="22" name="Shape 20"/>
          <p:cNvSpPr/>
          <p:nvPr/>
        </p:nvSpPr>
        <p:spPr>
          <a:xfrm>
            <a:off x="548640" y="4471416"/>
            <a:ext cx="5440680" cy="425196"/>
          </a:xfrm>
          <a:prstGeom prst="roundRect">
            <a:avLst>
              <a:gd name="adj" fmla="val 10753"/>
            </a:avLst>
          </a:prstGeom>
          <a:solidFill>
            <a:srgbClr val="EEF1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58368" y="4471416"/>
            <a:ext cx="914400" cy="4251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7A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600200" y="4471416"/>
            <a:ext cx="4297680" cy="4251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owner-occupied units built before 1940</a:t>
            </a:r>
            <a:endParaRPr lang="en-US" sz="1400" b="1" dirty="0"/>
          </a:p>
        </p:txBody>
      </p:sp>
      <p:sp>
        <p:nvSpPr>
          <p:cNvPr id="25" name="Shape 23"/>
          <p:cNvSpPr/>
          <p:nvPr/>
        </p:nvSpPr>
        <p:spPr>
          <a:xfrm>
            <a:off x="6172200" y="1536192"/>
            <a:ext cx="5440680" cy="425196"/>
          </a:xfrm>
          <a:prstGeom prst="roundRect">
            <a:avLst>
              <a:gd name="adj" fmla="val 10753"/>
            </a:avLst>
          </a:prstGeom>
          <a:solidFill>
            <a:srgbClr val="EEF1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281928" y="1536192"/>
            <a:ext cx="914400" cy="4251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7A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</a:t>
            </a: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7223760" y="1536192"/>
            <a:ext cx="4297680" cy="4251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mean of distance to 5 Boston employment centres</a:t>
            </a:r>
            <a:endParaRPr lang="en-US" sz="1400" b="1" dirty="0"/>
          </a:p>
        </p:txBody>
      </p:sp>
      <p:sp>
        <p:nvSpPr>
          <p:cNvPr id="28" name="Shape 26"/>
          <p:cNvSpPr/>
          <p:nvPr/>
        </p:nvSpPr>
        <p:spPr>
          <a:xfrm>
            <a:off x="6172200" y="2025396"/>
            <a:ext cx="5440680" cy="425196"/>
          </a:xfrm>
          <a:prstGeom prst="roundRect">
            <a:avLst>
              <a:gd name="adj" fmla="val 10753"/>
            </a:avLst>
          </a:prstGeom>
          <a:solidFill>
            <a:srgbClr val="EEF1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281928" y="2025396"/>
            <a:ext cx="914400" cy="4251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7A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rad</a:t>
            </a: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7223760" y="2025396"/>
            <a:ext cx="4297680" cy="4251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of accessibility to radial highways</a:t>
            </a:r>
            <a:endParaRPr lang="en-US" sz="1400" b="1" dirty="0"/>
          </a:p>
        </p:txBody>
      </p:sp>
      <p:sp>
        <p:nvSpPr>
          <p:cNvPr id="31" name="Shape 29"/>
          <p:cNvSpPr/>
          <p:nvPr/>
        </p:nvSpPr>
        <p:spPr>
          <a:xfrm>
            <a:off x="6172200" y="2514600"/>
            <a:ext cx="5440680" cy="425196"/>
          </a:xfrm>
          <a:prstGeom prst="roundRect">
            <a:avLst>
              <a:gd name="adj" fmla="val 10753"/>
            </a:avLst>
          </a:prstGeom>
          <a:solidFill>
            <a:srgbClr val="EEF1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281928" y="2514600"/>
            <a:ext cx="914400" cy="4251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7A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tax</a:t>
            </a: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7223760" y="2514600"/>
            <a:ext cx="4297680" cy="4251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Full-value property-tax rate per $10,000</a:t>
            </a:r>
            <a:endParaRPr lang="en-US" sz="1400" b="1" dirty="0"/>
          </a:p>
        </p:txBody>
      </p:sp>
      <p:sp>
        <p:nvSpPr>
          <p:cNvPr id="34" name="Shape 32"/>
          <p:cNvSpPr/>
          <p:nvPr/>
        </p:nvSpPr>
        <p:spPr>
          <a:xfrm>
            <a:off x="6172200" y="3003804"/>
            <a:ext cx="5440680" cy="425196"/>
          </a:xfrm>
          <a:prstGeom prst="roundRect">
            <a:avLst>
              <a:gd name="adj" fmla="val 10753"/>
            </a:avLst>
          </a:prstGeom>
          <a:solidFill>
            <a:srgbClr val="EEF1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281928" y="3003804"/>
            <a:ext cx="914400" cy="4251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7A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ptratio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223760" y="3003804"/>
            <a:ext cx="4297680" cy="4251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Pupil-teacher ratio by town</a:t>
            </a:r>
            <a:endParaRPr lang="en-US" sz="1400" b="1" dirty="0"/>
          </a:p>
        </p:txBody>
      </p:sp>
      <p:sp>
        <p:nvSpPr>
          <p:cNvPr id="37" name="Shape 35"/>
          <p:cNvSpPr/>
          <p:nvPr/>
        </p:nvSpPr>
        <p:spPr>
          <a:xfrm>
            <a:off x="6172200" y="3493008"/>
            <a:ext cx="5440680" cy="425196"/>
          </a:xfrm>
          <a:prstGeom prst="roundRect">
            <a:avLst>
              <a:gd name="adj" fmla="val 10753"/>
            </a:avLst>
          </a:prstGeom>
          <a:solidFill>
            <a:srgbClr val="EEF1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6281928" y="3493008"/>
            <a:ext cx="914400" cy="4251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7A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black</a:t>
            </a: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7223760" y="3493008"/>
            <a:ext cx="4297680" cy="4251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1000(Bk - 0.63)^2, Bk = proportion of Black by Town</a:t>
            </a:r>
            <a:endParaRPr lang="en-US" sz="1400" b="1" dirty="0"/>
          </a:p>
        </p:txBody>
      </p:sp>
      <p:sp>
        <p:nvSpPr>
          <p:cNvPr id="40" name="Shape 38"/>
          <p:cNvSpPr/>
          <p:nvPr/>
        </p:nvSpPr>
        <p:spPr>
          <a:xfrm>
            <a:off x="6172200" y="3982212"/>
            <a:ext cx="5440680" cy="425196"/>
          </a:xfrm>
          <a:prstGeom prst="roundRect">
            <a:avLst>
              <a:gd name="adj" fmla="val 10753"/>
            </a:avLst>
          </a:prstGeom>
          <a:solidFill>
            <a:srgbClr val="EEF1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6281928" y="3982212"/>
            <a:ext cx="914400" cy="4251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7A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lstat</a:t>
            </a: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7223760" y="3982212"/>
            <a:ext cx="4297680" cy="4251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lower status of the population</a:t>
            </a:r>
            <a:endParaRPr lang="en-US" sz="1400" b="1" dirty="0"/>
          </a:p>
        </p:txBody>
      </p:sp>
      <p:sp>
        <p:nvSpPr>
          <p:cNvPr id="43" name="Shape 41"/>
          <p:cNvSpPr/>
          <p:nvPr/>
        </p:nvSpPr>
        <p:spPr>
          <a:xfrm>
            <a:off x="6172200" y="4471416"/>
            <a:ext cx="5440680" cy="425196"/>
          </a:xfrm>
          <a:prstGeom prst="roundRect">
            <a:avLst>
              <a:gd name="adj" fmla="val 10753"/>
            </a:avLst>
          </a:prstGeom>
          <a:solidFill>
            <a:srgbClr val="FBF1D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6281928" y="4471416"/>
            <a:ext cx="914400" cy="4251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medv</a:t>
            </a:r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45" name="Text 43"/>
          <p:cNvSpPr/>
          <p:nvPr/>
        </p:nvSpPr>
        <p:spPr>
          <a:xfrm>
            <a:off x="7223760" y="4471416"/>
            <a:ext cx="4297680" cy="4251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value of owner-occupied homes ($1000s) — TARGET</a:t>
            </a:r>
            <a:endParaRPr lang="en-US" sz="1200" b="1" dirty="0"/>
          </a:p>
        </p:txBody>
      </p:sp>
      <p:sp>
        <p:nvSpPr>
          <p:cNvPr id="47" name="Text 45"/>
          <p:cNvSpPr/>
          <p:nvPr/>
        </p:nvSpPr>
        <p:spPr>
          <a:xfrm>
            <a:off x="1146017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22960" y="1921549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3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ONE</a:t>
            </a:r>
            <a:endParaRPr lang="en-US" sz="2400" dirty="0">
              <a:solidFill>
                <a:schemeClr val="accent2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2223144"/>
            <a:ext cx="101836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Exploratory Data Analysis</a:t>
            </a:r>
            <a:endParaRPr lang="en-US" sz="4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3136571"/>
            <a:ext cx="1054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Understanding the structure, distributions, and relationships in the data before modelling</a:t>
            </a:r>
            <a:endParaRPr lang="en-US" sz="20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0">
            <a:extLst>
              <a:ext uri="{FF2B5EF4-FFF2-40B4-BE49-F238E27FC236}">
                <a16:creationId xmlns:a16="http://schemas.microsoft.com/office/drawing/2014/main" id="{A7F4ACA5-38A2-35B4-55EE-5E539C202384}"/>
              </a:ext>
            </a:extLst>
          </p:cNvPr>
          <p:cNvSpPr/>
          <p:nvPr/>
        </p:nvSpPr>
        <p:spPr>
          <a:xfrm>
            <a:off x="9164255" y="-903439"/>
            <a:ext cx="3840480" cy="3840480"/>
          </a:xfrm>
          <a:prstGeom prst="ellipse">
            <a:avLst/>
          </a:prstGeom>
          <a:solidFill>
            <a:srgbClr val="2F40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1">
            <a:extLst>
              <a:ext uri="{FF2B5EF4-FFF2-40B4-BE49-F238E27FC236}">
                <a16:creationId xmlns:a16="http://schemas.microsoft.com/office/drawing/2014/main" id="{E9563609-E347-7FE9-EB5F-E122B0B4CA3C}"/>
              </a:ext>
            </a:extLst>
          </p:cNvPr>
          <p:cNvSpPr/>
          <p:nvPr/>
        </p:nvSpPr>
        <p:spPr>
          <a:xfrm>
            <a:off x="10527792" y="4648525"/>
            <a:ext cx="2743200" cy="2743200"/>
          </a:xfrm>
          <a:prstGeom prst="ellipse">
            <a:avLst/>
          </a:prstGeom>
          <a:solidFill>
            <a:srgbClr val="2F4066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4" name="Shape 5">
            <a:extLst>
              <a:ext uri="{FF2B5EF4-FFF2-40B4-BE49-F238E27FC236}">
                <a16:creationId xmlns:a16="http://schemas.microsoft.com/office/drawing/2014/main" id="{4B94040C-4583-BB9E-BDED-AB6579D0900E}"/>
              </a:ext>
            </a:extLst>
          </p:cNvPr>
          <p:cNvSpPr/>
          <p:nvPr/>
        </p:nvSpPr>
        <p:spPr>
          <a:xfrm>
            <a:off x="953202" y="3747581"/>
            <a:ext cx="2011680" cy="0"/>
          </a:xfrm>
          <a:prstGeom prst="line">
            <a:avLst/>
          </a:prstGeom>
          <a:noFill/>
          <a:ln w="31750">
            <a:solidFill>
              <a:srgbClr val="C165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91A445C-5A1A-FEBB-DA79-F8AFB04B72F3}"/>
              </a:ext>
            </a:extLst>
          </p:cNvPr>
          <p:cNvSpPr txBox="1"/>
          <p:nvPr/>
        </p:nvSpPr>
        <p:spPr>
          <a:xfrm>
            <a:off x="841259" y="3977928"/>
            <a:ext cx="668655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Overview (Dataset, Histogram of Target) </a:t>
            </a:r>
            <a:r>
              <a:rPr lang="en-US" sz="16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→</a:t>
            </a: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 action="ppaction://hlinksldjump"/>
              </a:rPr>
              <a:t>Open</a:t>
            </a:r>
            <a:endParaRPr lang="en-US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(Correlation Heatmap) </a:t>
            </a:r>
            <a:r>
              <a:rPr lang="en-US" sz="16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→</a:t>
            </a: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4" action="ppaction://hlinksldjump"/>
              </a:rPr>
              <a:t>Open</a:t>
            </a:r>
            <a:endParaRPr lang="en-US" sz="1600" b="1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Top Predictors (Scatter Plots) </a:t>
            </a:r>
            <a:r>
              <a:rPr lang="en-US" sz="16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→</a:t>
            </a: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5" action="ppaction://hlinksldjump"/>
              </a:rPr>
              <a:t>Open</a:t>
            </a:r>
            <a:endParaRPr lang="en-US" sz="1600" b="1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Effect (Box Plots of Categorical Predictors) </a:t>
            </a:r>
            <a:r>
              <a:rPr lang="en-US" sz="16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→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6" action="ppaction://hlinksldjump"/>
              </a:rPr>
              <a:t>Open</a:t>
            </a: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/>
              </a:rPr>
              <a:t> </a:t>
            </a:r>
            <a:endParaRPr lang="en-US" sz="1600" b="1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6092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kern="0" spc="2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— OVERVIEW</a:t>
            </a:r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4574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</a:t>
            </a:r>
            <a:r>
              <a:rPr lang="en-US" sz="3200" b="1" dirty="0">
                <a:solidFill>
                  <a:schemeClr val="tx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:  </a:t>
            </a:r>
            <a:r>
              <a:rPr lang="en-US" sz="3200" b="1" dirty="0">
                <a:solidFill>
                  <a:schemeClr val="tx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</a:t>
            </a:r>
            <a:endParaRPr lang="en-US" sz="1200" dirty="0">
              <a:solidFill>
                <a:schemeClr val="tx2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502920" y="1216152"/>
            <a:ext cx="2606040" cy="1252728"/>
          </a:xfrm>
          <a:prstGeom prst="roundRect">
            <a:avLst>
              <a:gd name="adj" fmla="val 6667"/>
            </a:avLst>
          </a:prstGeom>
          <a:solidFill>
            <a:srgbClr val="0020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24840" y="914400"/>
            <a:ext cx="2331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506 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94360" y="1371601"/>
            <a:ext cx="2331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 (towns)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3291840" y="1207008"/>
            <a:ext cx="2606040" cy="1261872"/>
          </a:xfrm>
          <a:prstGeom prst="roundRect">
            <a:avLst>
              <a:gd name="adj" fmla="val 6667"/>
            </a:avLst>
          </a:prstGeom>
          <a:solidFill>
            <a:srgbClr val="0020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429000" y="859536"/>
            <a:ext cx="2331720" cy="1609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4000" dirty="0">
              <a:solidFill>
                <a:schemeClr val="accent2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3429000" y="1316736"/>
            <a:ext cx="2331720" cy="1609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 variables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6096000" y="1225296"/>
            <a:ext cx="2606040" cy="1243584"/>
          </a:xfrm>
          <a:prstGeom prst="roundRect">
            <a:avLst>
              <a:gd name="adj" fmla="val 6667"/>
            </a:avLst>
          </a:prstGeom>
          <a:solidFill>
            <a:srgbClr val="002060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1" name="Text 9"/>
          <p:cNvSpPr/>
          <p:nvPr/>
        </p:nvSpPr>
        <p:spPr>
          <a:xfrm>
            <a:off x="6263640" y="859536"/>
            <a:ext cx="2331720" cy="1609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>
              <a:solidFill>
                <a:schemeClr val="accent2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6263640" y="1271016"/>
            <a:ext cx="2331720" cy="16550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 (medv)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961120" y="1216152"/>
            <a:ext cx="2606040" cy="1252728"/>
          </a:xfrm>
          <a:prstGeom prst="roundRect">
            <a:avLst>
              <a:gd name="adj" fmla="val 6667"/>
            </a:avLst>
          </a:prstGeom>
          <a:solidFill>
            <a:srgbClr val="0020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9098280" y="658368"/>
            <a:ext cx="2331720" cy="1810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>
              <a:solidFill>
                <a:schemeClr val="accent2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9098280" y="1207008"/>
            <a:ext cx="2331720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20" name="Text 17"/>
          <p:cNvSpPr/>
          <p:nvPr/>
        </p:nvSpPr>
        <p:spPr>
          <a:xfrm>
            <a:off x="7315200" y="3749040"/>
            <a:ext cx="41605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E51EDF1-8999-1C81-5380-1D6B027C52A6}"/>
              </a:ext>
            </a:extLst>
          </p:cNvPr>
          <p:cNvSpPr txBox="1"/>
          <p:nvPr/>
        </p:nvSpPr>
        <p:spPr>
          <a:xfrm>
            <a:off x="461861" y="2664684"/>
            <a:ext cx="97833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Distribution of </a:t>
            </a:r>
            <a:r>
              <a:rPr lang="en-US" sz="3000" b="1" dirty="0" err="1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medv</a:t>
            </a: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(Target) </a:t>
            </a:r>
            <a:r>
              <a:rPr lang="en-US" sz="3200" b="1" dirty="0">
                <a:solidFill>
                  <a:schemeClr val="tx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: </a:t>
            </a:r>
            <a:endParaRPr lang="en-US" sz="3000" dirty="0">
              <a:solidFill>
                <a:schemeClr val="tx2"/>
              </a:solidFill>
            </a:endParaRPr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C213B040-D1AE-A9AF-275F-0D3B28B2B2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7966356"/>
              </p:ext>
            </p:extLst>
          </p:nvPr>
        </p:nvGraphicFramePr>
        <p:xfrm>
          <a:off x="5475478" y="3369077"/>
          <a:ext cx="6381635" cy="3297259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2113119">
                  <a:extLst>
                    <a:ext uri="{9D8B030D-6E8A-4147-A177-3AD203B41FA5}">
                      <a16:colId xmlns:a16="http://schemas.microsoft.com/office/drawing/2014/main" val="1984513555"/>
                    </a:ext>
                  </a:extLst>
                </a:gridCol>
                <a:gridCol w="2134258">
                  <a:extLst>
                    <a:ext uri="{9D8B030D-6E8A-4147-A177-3AD203B41FA5}">
                      <a16:colId xmlns:a16="http://schemas.microsoft.com/office/drawing/2014/main" val="786387368"/>
                    </a:ext>
                  </a:extLst>
                </a:gridCol>
                <a:gridCol w="2134258">
                  <a:extLst>
                    <a:ext uri="{9D8B030D-6E8A-4147-A177-3AD203B41FA5}">
                      <a16:colId xmlns:a16="http://schemas.microsoft.com/office/drawing/2014/main" val="3214939565"/>
                    </a:ext>
                  </a:extLst>
                </a:gridCol>
              </a:tblGrid>
              <a:tr h="379597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2"/>
                          </a:solidFill>
                        </a:rPr>
                        <a:t>Measure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2"/>
                          </a:solidFill>
                        </a:rPr>
                        <a:t>Value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2"/>
                          </a:solidFill>
                        </a:rPr>
                        <a:t>Comment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0455126"/>
                  </a:ext>
                </a:extLst>
              </a:tr>
              <a:tr h="379597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tx2"/>
                          </a:solidFill>
                        </a:rPr>
                        <a:t>Mean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tx2"/>
                          </a:solidFill>
                        </a:rPr>
                        <a:t>22.5328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tx2"/>
                          </a:solidFill>
                        </a:rPr>
                        <a:t>Avg. of $22,533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6012756"/>
                  </a:ext>
                </a:extLst>
              </a:tr>
              <a:tr h="379597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tx2"/>
                          </a:solidFill>
                        </a:rPr>
                        <a:t>Median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tx2"/>
                          </a:solidFill>
                        </a:rPr>
                        <a:t>21.2000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tx2"/>
                          </a:solidFill>
                        </a:rPr>
                        <a:t>Med. Of $21,200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7410777"/>
                  </a:ext>
                </a:extLst>
              </a:tr>
              <a:tr h="379597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tx2"/>
                          </a:solidFill>
                        </a:rPr>
                        <a:t>Standard Deviation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tx2"/>
                          </a:solidFill>
                        </a:rPr>
                        <a:t>9.1971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tx2"/>
                          </a:solidFill>
                        </a:rPr>
                        <a:t>Variability of $9197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8300779"/>
                  </a:ext>
                </a:extLst>
              </a:tr>
              <a:tr h="379597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tx2"/>
                          </a:solidFill>
                        </a:rPr>
                        <a:t>Minimum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tx2"/>
                          </a:solidFill>
                        </a:rPr>
                        <a:t>5.0000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tx2"/>
                          </a:solidFill>
                        </a:rPr>
                        <a:t>Min. of $5000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0986279"/>
                  </a:ext>
                </a:extLst>
              </a:tr>
              <a:tr h="379597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tx2"/>
                          </a:solidFill>
                        </a:rPr>
                        <a:t>Maximum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tx2"/>
                          </a:solidFill>
                        </a:rPr>
                        <a:t>50.0000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tx2"/>
                          </a:solidFill>
                        </a:rPr>
                        <a:t>Max. of $50,000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8453259"/>
                  </a:ext>
                </a:extLst>
              </a:tr>
              <a:tr h="379597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tx2"/>
                          </a:solidFill>
                        </a:rPr>
                        <a:t>Bowley’s Measure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tx2"/>
                          </a:solidFill>
                        </a:rPr>
                        <a:t>-0.0470 (&lt;0)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tx2"/>
                          </a:solidFill>
                        </a:rPr>
                        <a:t>Negatively Skewed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3243587"/>
                  </a:ext>
                </a:extLst>
              </a:tr>
              <a:tr h="379597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tx2"/>
                          </a:solidFill>
                        </a:rPr>
                        <a:t>Kappa Measure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tx2"/>
                          </a:solidFill>
                        </a:rPr>
                        <a:t>1.3824 (&gt;0.263)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tx2"/>
                          </a:solidFill>
                        </a:rPr>
                        <a:t>Leptokurtic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1176262"/>
                  </a:ext>
                </a:extLst>
              </a:tr>
            </a:tbl>
          </a:graphicData>
        </a:graphic>
      </p:graphicFrame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B44EFCB-0B1D-6EC1-1710-64ECB9964653}"/>
              </a:ext>
            </a:extLst>
          </p:cNvPr>
          <p:cNvSpPr/>
          <p:nvPr/>
        </p:nvSpPr>
        <p:spPr>
          <a:xfrm>
            <a:off x="8640097" y="274890"/>
            <a:ext cx="3248086" cy="482020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 TO EDA DASHBOARD</a:t>
            </a:r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53DD024-F26F-67E7-DB4B-E1E1D8609EC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18" r="4900"/>
          <a:stretch>
            <a:fillRect/>
          </a:stretch>
        </p:blipFill>
        <p:spPr>
          <a:xfrm>
            <a:off x="277368" y="3326385"/>
            <a:ext cx="5198110" cy="314756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— RELATIONSHIPS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Variables Relate to Each Other : </a:t>
            </a:r>
            <a:endParaRPr lang="en-US" sz="26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5" name="Shape 2"/>
          <p:cNvSpPr/>
          <p:nvPr/>
        </p:nvSpPr>
        <p:spPr>
          <a:xfrm>
            <a:off x="457200" y="1371600"/>
            <a:ext cx="4143676" cy="4709160"/>
          </a:xfrm>
          <a:prstGeom prst="roundRect">
            <a:avLst>
              <a:gd name="adj" fmla="val 3509"/>
            </a:avLst>
          </a:prstGeom>
          <a:solidFill>
            <a:srgbClr val="F4F6F9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6" name="Text 3"/>
          <p:cNvSpPr/>
          <p:nvPr/>
        </p:nvSpPr>
        <p:spPr>
          <a:xfrm>
            <a:off x="658368" y="15544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u="sng" dirty="0">
                <a:solidFill>
                  <a:srgbClr val="1E2A44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Observations:</a:t>
            </a:r>
            <a:endParaRPr lang="en-US" u="sng" dirty="0">
              <a:highlight>
                <a:srgbClr val="FFFF00"/>
              </a:highlight>
            </a:endParaRPr>
          </a:p>
        </p:txBody>
      </p:sp>
      <p:sp>
        <p:nvSpPr>
          <p:cNvPr id="7" name="Text 4"/>
          <p:cNvSpPr/>
          <p:nvPr/>
        </p:nvSpPr>
        <p:spPr>
          <a:xfrm>
            <a:off x="658367" y="1965960"/>
            <a:ext cx="3711501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b="1" u="sng" dirty="0">
                <a:solidFill>
                  <a:srgbClr val="00206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Strongest Positive Predictor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b="1" dirty="0">
                <a:solidFill>
                  <a:srgbClr val="C1652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rm</a:t>
            </a:r>
            <a:r>
              <a:rPr lang="en-US" dirty="0">
                <a:solidFill>
                  <a:srgbClr val="1E2A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(rooms) correlates most positively with medv (+0.70)
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b="1" u="sng" dirty="0">
                <a:solidFill>
                  <a:srgbClr val="00206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Strongest Negative Predictor</a:t>
            </a:r>
            <a:r>
              <a:rPr lang="en-US" dirty="0">
                <a:solidFill>
                  <a:srgbClr val="1E2A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
</a:t>
            </a:r>
            <a:r>
              <a:rPr lang="en-US" b="1" dirty="0">
                <a:solidFill>
                  <a:srgbClr val="C1652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lstat</a:t>
            </a:r>
            <a:r>
              <a:rPr lang="en-US" dirty="0">
                <a:solidFill>
                  <a:srgbClr val="1E2A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(lower-status %) correlates most negatively (−0.74)
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b="1" u="sng" dirty="0">
                <a:solidFill>
                  <a:srgbClr val="00206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Multicollinearity </a:t>
            </a:r>
            <a:r>
              <a:rPr lang="en-US" dirty="0">
                <a:solidFill>
                  <a:srgbClr val="1E2A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
</a:t>
            </a:r>
            <a:r>
              <a:rPr lang="en-US" b="1" dirty="0">
                <a:solidFill>
                  <a:srgbClr val="C1652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tax</a:t>
            </a:r>
            <a:r>
              <a:rPr lang="en-US" dirty="0">
                <a:solidFill>
                  <a:srgbClr val="1E2A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and </a:t>
            </a:r>
            <a:r>
              <a:rPr lang="en-US" b="1" dirty="0">
                <a:solidFill>
                  <a:srgbClr val="C1652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rad</a:t>
            </a:r>
            <a:r>
              <a:rPr lang="en-US" dirty="0">
                <a:solidFill>
                  <a:srgbClr val="1E2A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are strongly correlated with each other (+0.91) — a sign of multicollinearity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CEC72B9-C46A-5BA1-1F1E-8566C98C82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63" r="8109"/>
          <a:stretch>
            <a:fillRect/>
          </a:stretch>
        </p:blipFill>
        <p:spPr>
          <a:xfrm>
            <a:off x="4600876" y="1116841"/>
            <a:ext cx="6525928" cy="5475989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A243E18-5156-D320-8735-4DFB92C2EA98}"/>
              </a:ext>
            </a:extLst>
          </p:cNvPr>
          <p:cNvSpPr/>
          <p:nvPr/>
        </p:nvSpPr>
        <p:spPr>
          <a:xfrm>
            <a:off x="8640097" y="274890"/>
            <a:ext cx="3248086" cy="482020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 TO EDA DASHBOARD</a:t>
            </a:r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– TOP PREDICTORS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Scatter Plots based on Strongest Predictors : </a:t>
            </a:r>
            <a:endParaRPr lang="en-US" sz="30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2202426" y="5349239"/>
            <a:ext cx="7275871" cy="1339596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  <a:effectLst>
            <a:softEdge rad="31750"/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/>
          <a:lstStyle/>
          <a:p>
            <a:r>
              <a:rPr lang="en-US" b="1" u="sng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Observations: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More rooms → higher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medv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value (r=+0.70)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Higher lower-status population share → lower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medv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value (r=- -0.74)</a:t>
            </a:r>
            <a:r>
              <a:rPr lang="en-US" b="1" dirty="0">
                <a:solidFill>
                  <a:schemeClr val="bg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8" name="Text 4"/>
          <p:cNvSpPr/>
          <p:nvPr/>
        </p:nvSpPr>
        <p:spPr>
          <a:xfrm>
            <a:off x="1146017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D675751-5E93-30C1-89FC-74035CBB1E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744" y="1076380"/>
            <a:ext cx="11722631" cy="4387159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EFC270C-8132-7CED-A99D-62ADE3056774}"/>
              </a:ext>
            </a:extLst>
          </p:cNvPr>
          <p:cNvSpPr/>
          <p:nvPr/>
        </p:nvSpPr>
        <p:spPr>
          <a:xfrm>
            <a:off x="8640097" y="274890"/>
            <a:ext cx="3248086" cy="482020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 TO EDA DASHBOARD</a:t>
            </a:r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— CATEGORICAL EFFECT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Bordering the Charles River Matter? : </a:t>
            </a:r>
            <a:endParaRPr lang="en-US" sz="2600" dirty="0">
              <a:solidFill>
                <a:schemeClr val="tx2"/>
              </a:solidFill>
            </a:endParaRPr>
          </a:p>
        </p:txBody>
      </p:sp>
      <p:sp>
        <p:nvSpPr>
          <p:cNvPr id="5" name="Shape 2"/>
          <p:cNvSpPr/>
          <p:nvPr/>
        </p:nvSpPr>
        <p:spPr>
          <a:xfrm>
            <a:off x="6903720" y="1737360"/>
            <a:ext cx="4800600" cy="3840480"/>
          </a:xfrm>
          <a:prstGeom prst="roundRect">
            <a:avLst>
              <a:gd name="adj" fmla="val 2381"/>
            </a:avLst>
          </a:prstGeom>
          <a:solidFill>
            <a:srgbClr val="1E2A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7178040" y="2011680"/>
            <a:ext cx="4251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Only ~7%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178040" y="2697480"/>
            <a:ext cx="4251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towns in the dataset border the Charles River</a:t>
            </a:r>
            <a:endParaRPr lang="en-US" sz="2400" b="1" dirty="0"/>
          </a:p>
        </p:txBody>
      </p:sp>
      <p:sp>
        <p:nvSpPr>
          <p:cNvPr id="8" name="Text 5"/>
          <p:cNvSpPr/>
          <p:nvPr/>
        </p:nvSpPr>
        <p:spPr>
          <a:xfrm>
            <a:off x="7178040" y="3520440"/>
            <a:ext cx="42519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River-bounding towns (chas = 1) tend to show higher and more variable median home values — a modest but visible effect worth including as a predictor.</a:t>
            </a:r>
            <a:endParaRPr lang="en-US" b="1" dirty="0"/>
          </a:p>
        </p:txBody>
      </p:sp>
      <p:sp>
        <p:nvSpPr>
          <p:cNvPr id="10" name="Text 7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3EB21B1-0C66-62A9-8463-2EF697814A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79" t="4511" r="7461" b="3015"/>
          <a:stretch>
            <a:fillRect/>
          </a:stretch>
        </p:blipFill>
        <p:spPr>
          <a:xfrm>
            <a:off x="419837" y="1238570"/>
            <a:ext cx="6346723" cy="5073445"/>
          </a:xfrm>
          <a:prstGeom prst="rect">
            <a:avLst/>
          </a:prstGeom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C269229-E3FB-2613-B16E-84C698008F66}"/>
              </a:ext>
            </a:extLst>
          </p:cNvPr>
          <p:cNvSpPr/>
          <p:nvPr/>
        </p:nvSpPr>
        <p:spPr>
          <a:xfrm>
            <a:off x="8640097" y="274890"/>
            <a:ext cx="3248086" cy="482020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 TO EDA DASHBOARD</a:t>
            </a:r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505460" y="4086217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Two approaches, one train-test split, and a fair comparison</a:t>
            </a: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B90396DA-8811-DBD7-82B3-BE77E140E7D6}"/>
              </a:ext>
            </a:extLst>
          </p:cNvPr>
          <p:cNvSpPr/>
          <p:nvPr/>
        </p:nvSpPr>
        <p:spPr>
          <a:xfrm>
            <a:off x="505460" y="1857384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3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</a:t>
            </a:r>
            <a:endParaRPr lang="en-US" sz="2400" dirty="0">
              <a:solidFill>
                <a:schemeClr val="accent2"/>
              </a:solidFill>
            </a:endParaRPr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A4F5657F-784B-DB8B-74B3-2950029FB6C5}"/>
              </a:ext>
            </a:extLst>
          </p:cNvPr>
          <p:cNvSpPr/>
          <p:nvPr/>
        </p:nvSpPr>
        <p:spPr>
          <a:xfrm>
            <a:off x="505460" y="2223144"/>
            <a:ext cx="101836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Prediction of </a:t>
            </a:r>
            <a:r>
              <a:rPr lang="en-US" sz="4000" b="1" dirty="0" err="1"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medv</a:t>
            </a:r>
            <a:r>
              <a:rPr lang="en-US" sz="4000" b="1" dirty="0"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(median home value)</a:t>
            </a:r>
            <a:endParaRPr lang="en-US" sz="4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Shape 0">
            <a:extLst>
              <a:ext uri="{FF2B5EF4-FFF2-40B4-BE49-F238E27FC236}">
                <a16:creationId xmlns:a16="http://schemas.microsoft.com/office/drawing/2014/main" id="{7AB37274-F040-69E6-8EF0-1820DFE1511C}"/>
              </a:ext>
            </a:extLst>
          </p:cNvPr>
          <p:cNvSpPr/>
          <p:nvPr/>
        </p:nvSpPr>
        <p:spPr>
          <a:xfrm>
            <a:off x="9528048" y="-882396"/>
            <a:ext cx="3840480" cy="3840480"/>
          </a:xfrm>
          <a:prstGeom prst="ellipse">
            <a:avLst/>
          </a:prstGeom>
          <a:solidFill>
            <a:srgbClr val="2F40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">
            <a:extLst>
              <a:ext uri="{FF2B5EF4-FFF2-40B4-BE49-F238E27FC236}">
                <a16:creationId xmlns:a16="http://schemas.microsoft.com/office/drawing/2014/main" id="{019D7BFB-C402-DC03-EB74-F4F195CB6050}"/>
              </a:ext>
            </a:extLst>
          </p:cNvPr>
          <p:cNvSpPr/>
          <p:nvPr/>
        </p:nvSpPr>
        <p:spPr>
          <a:xfrm>
            <a:off x="10222992" y="4434840"/>
            <a:ext cx="2743200" cy="2743200"/>
          </a:xfrm>
          <a:prstGeom prst="ellipse">
            <a:avLst/>
          </a:prstGeom>
          <a:solidFill>
            <a:srgbClr val="2F40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D14A18B-4D41-6D62-C76F-7C052F0CA6A4}"/>
              </a:ext>
            </a:extLst>
          </p:cNvPr>
          <p:cNvSpPr txBox="1"/>
          <p:nvPr/>
        </p:nvSpPr>
        <p:spPr>
          <a:xfrm>
            <a:off x="505460" y="3159611"/>
            <a:ext cx="66865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Multiple Linear Regression  vs.  Decision Tree</a:t>
            </a:r>
            <a:endParaRPr 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5">
            <a:extLst>
              <a:ext uri="{FF2B5EF4-FFF2-40B4-BE49-F238E27FC236}">
                <a16:creationId xmlns:a16="http://schemas.microsoft.com/office/drawing/2014/main" id="{95858B52-553D-E3D6-A8AA-D44BBA6E3EB4}"/>
              </a:ext>
            </a:extLst>
          </p:cNvPr>
          <p:cNvSpPr/>
          <p:nvPr/>
        </p:nvSpPr>
        <p:spPr>
          <a:xfrm>
            <a:off x="594360" y="3823781"/>
            <a:ext cx="2011680" cy="0"/>
          </a:xfrm>
          <a:prstGeom prst="line">
            <a:avLst/>
          </a:prstGeom>
          <a:noFill/>
          <a:ln w="31750">
            <a:solidFill>
              <a:srgbClr val="C165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000" b="1" dirty="0">
              <a:solidFill>
                <a:schemeClr val="accent2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Setting Up a Fair Comparison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463040" y="12573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A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Train-Test Split (same split used for both models)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87680" y="1627632"/>
            <a:ext cx="8997696" cy="685800"/>
          </a:xfrm>
          <a:prstGeom prst="roundRect">
            <a:avLst>
              <a:gd name="adj" fmla="val 8000"/>
            </a:avLst>
          </a:prstGeom>
          <a:solidFill>
            <a:srgbClr val="1E2A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9485376" y="1623060"/>
            <a:ext cx="2249424" cy="685800"/>
          </a:xfrm>
          <a:prstGeom prst="roundRect">
            <a:avLst>
              <a:gd name="adj" fmla="val 8000"/>
            </a:avLst>
          </a:prstGeom>
          <a:solidFill>
            <a:srgbClr val="C1652F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899769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— 404 observations (80%)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454896" y="1362456"/>
            <a:ext cx="2249424" cy="11978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600" b="1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 (20%)</a:t>
            </a:r>
            <a:endParaRPr lang="en-US" sz="1600" b="1" dirty="0"/>
          </a:p>
        </p:txBody>
      </p:sp>
      <p:sp>
        <p:nvSpPr>
          <p:cNvPr id="9" name="Shape 7"/>
          <p:cNvSpPr/>
          <p:nvPr/>
        </p:nvSpPr>
        <p:spPr>
          <a:xfrm>
            <a:off x="480060" y="3063240"/>
            <a:ext cx="2697480" cy="3063240"/>
          </a:xfrm>
          <a:prstGeom prst="roundRect">
            <a:avLst>
              <a:gd name="adj" fmla="val 339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85800" y="3319272"/>
            <a:ext cx="502920" cy="502920"/>
          </a:xfrm>
          <a:prstGeom prst="ellipse">
            <a:avLst/>
          </a:prstGeom>
          <a:solidFill>
            <a:srgbClr val="C1652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85800" y="33192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85800" y="39776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u="sng" dirty="0">
                <a:solidFill>
                  <a:srgbClr val="1E2A44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2000" u="sng" dirty="0">
              <a:highlight>
                <a:srgbClr val="FFFF00"/>
              </a:highlight>
            </a:endParaRPr>
          </a:p>
        </p:txBody>
      </p:sp>
      <p:sp>
        <p:nvSpPr>
          <p:cNvPr id="13" name="Text 11"/>
          <p:cNvSpPr/>
          <p:nvPr/>
        </p:nvSpPr>
        <p:spPr>
          <a:xfrm>
            <a:off x="685800" y="4389120"/>
            <a:ext cx="224028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b="1" dirty="0">
                <a:solidFill>
                  <a:srgbClr val="1E2A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80/20 train-test split, fixed random seed, identical for both models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291840" y="3063240"/>
            <a:ext cx="2697480" cy="3063240"/>
          </a:xfrm>
          <a:prstGeom prst="roundRect">
            <a:avLst>
              <a:gd name="adj" fmla="val 339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520440" y="3319272"/>
            <a:ext cx="502920" cy="502920"/>
          </a:xfrm>
          <a:prstGeom prst="ellipse">
            <a:avLst/>
          </a:prstGeom>
          <a:solidFill>
            <a:srgbClr val="C1652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520440" y="33192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520440" y="39776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u="sng" dirty="0">
                <a:solidFill>
                  <a:srgbClr val="1E2A44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2000" u="sng" dirty="0">
              <a:highlight>
                <a:srgbClr val="FFFF00"/>
              </a:highlight>
            </a:endParaRPr>
          </a:p>
        </p:txBody>
      </p:sp>
      <p:sp>
        <p:nvSpPr>
          <p:cNvPr id="18" name="Text 16"/>
          <p:cNvSpPr/>
          <p:nvPr/>
        </p:nvSpPr>
        <p:spPr>
          <a:xfrm>
            <a:off x="3520440" y="4389120"/>
            <a:ext cx="224028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b="1" dirty="0">
                <a:solidFill>
                  <a:srgbClr val="1E2A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Predictors standardized (zero mean, unit variance) before fitting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126480" y="3063240"/>
            <a:ext cx="2697480" cy="3063240"/>
          </a:xfrm>
          <a:prstGeom prst="roundRect">
            <a:avLst>
              <a:gd name="adj" fmla="val 339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355080" y="3319272"/>
            <a:ext cx="502920" cy="502920"/>
          </a:xfrm>
          <a:prstGeom prst="ellipse">
            <a:avLst/>
          </a:prstGeom>
          <a:solidFill>
            <a:srgbClr val="C1652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355080" y="33192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355080" y="39776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u="sng" dirty="0">
                <a:solidFill>
                  <a:srgbClr val="1E2A44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Fit</a:t>
            </a:r>
            <a:endParaRPr lang="en-US" sz="2000" u="sng" dirty="0">
              <a:highlight>
                <a:srgbClr val="FFFF00"/>
              </a:highlight>
            </a:endParaRPr>
          </a:p>
        </p:txBody>
      </p:sp>
      <p:sp>
        <p:nvSpPr>
          <p:cNvPr id="23" name="Text 21"/>
          <p:cNvSpPr/>
          <p:nvPr/>
        </p:nvSpPr>
        <p:spPr>
          <a:xfrm>
            <a:off x="6355080" y="4389120"/>
            <a:ext cx="224028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b="1" dirty="0">
                <a:solidFill>
                  <a:srgbClr val="1E2A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MLR and Decision Tree fit on scaled predictors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8961120" y="3063240"/>
            <a:ext cx="2697480" cy="3063240"/>
          </a:xfrm>
          <a:prstGeom prst="roundRect">
            <a:avLst>
              <a:gd name="adj" fmla="val 339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5" name="Shape 23"/>
          <p:cNvSpPr/>
          <p:nvPr/>
        </p:nvSpPr>
        <p:spPr>
          <a:xfrm>
            <a:off x="9189720" y="3319272"/>
            <a:ext cx="502920" cy="502920"/>
          </a:xfrm>
          <a:prstGeom prst="ellipse">
            <a:avLst/>
          </a:prstGeom>
          <a:solidFill>
            <a:srgbClr val="C1652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9189720" y="33192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189720" y="39776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u="sng" dirty="0">
                <a:solidFill>
                  <a:srgbClr val="1E2A44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2000" u="sng" dirty="0">
              <a:highlight>
                <a:srgbClr val="FFFF00"/>
              </a:highlight>
            </a:endParaRPr>
          </a:p>
        </p:txBody>
      </p:sp>
      <p:sp>
        <p:nvSpPr>
          <p:cNvPr id="28" name="Text 26"/>
          <p:cNvSpPr/>
          <p:nvPr/>
        </p:nvSpPr>
        <p:spPr>
          <a:xfrm>
            <a:off x="9189720" y="4389120"/>
            <a:ext cx="224028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b="1" dirty="0">
                <a:solidFill>
                  <a:srgbClr val="1E2A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Train MSE, Test MSE, Train R^2, Test R^2 computed for both models on the same split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9240" y="219457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1 — PARAMETRIC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269240" y="502485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Multiple Linear Regression </a:t>
            </a:r>
            <a:endParaRPr lang="en-US" sz="3000" dirty="0">
              <a:solidFill>
                <a:schemeClr val="bg2"/>
              </a:solidFill>
            </a:endParaRPr>
          </a:p>
        </p:txBody>
      </p:sp>
      <p:sp>
        <p:nvSpPr>
          <p:cNvPr id="5" name="Shape 2"/>
          <p:cNvSpPr/>
          <p:nvPr/>
        </p:nvSpPr>
        <p:spPr>
          <a:xfrm>
            <a:off x="6816852" y="2009600"/>
            <a:ext cx="4983480" cy="2263131"/>
          </a:xfrm>
          <a:prstGeom prst="roundRect">
            <a:avLst>
              <a:gd name="adj" fmla="val 3922"/>
            </a:avLst>
          </a:prstGeom>
          <a:solidFill>
            <a:srgbClr val="1E2A44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6" name="Text 3"/>
          <p:cNvSpPr/>
          <p:nvPr/>
        </p:nvSpPr>
        <p:spPr>
          <a:xfrm>
            <a:off x="6949439" y="1597399"/>
            <a:ext cx="2258569" cy="36052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R^2</a:t>
            </a:r>
            <a:endParaRPr lang="en-US" sz="2000" b="1" dirty="0"/>
          </a:p>
        </p:txBody>
      </p:sp>
      <p:sp>
        <p:nvSpPr>
          <p:cNvPr id="7" name="Text 4"/>
          <p:cNvSpPr/>
          <p:nvPr/>
        </p:nvSpPr>
        <p:spPr>
          <a:xfrm>
            <a:off x="6949440" y="2479687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21.641</a:t>
            </a:r>
            <a:endParaRPr lang="en-US" sz="3400" dirty="0">
              <a:solidFill>
                <a:schemeClr val="accent2"/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9281160" y="1993558"/>
            <a:ext cx="2194560" cy="560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MSE</a:t>
            </a:r>
            <a:endParaRPr lang="en-US" sz="2000" b="1" dirty="0"/>
          </a:p>
        </p:txBody>
      </p:sp>
      <p:sp>
        <p:nvSpPr>
          <p:cNvPr id="9" name="Text 6"/>
          <p:cNvSpPr/>
          <p:nvPr/>
        </p:nvSpPr>
        <p:spPr>
          <a:xfrm>
            <a:off x="9281160" y="2471198"/>
            <a:ext cx="2194560" cy="6464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24.291</a:t>
            </a:r>
            <a:endParaRPr lang="en-US" sz="3400" dirty="0">
              <a:solidFill>
                <a:schemeClr val="accent2"/>
              </a:solidFill>
            </a:endParaRPr>
          </a:p>
        </p:txBody>
      </p:sp>
      <p:sp>
        <p:nvSpPr>
          <p:cNvPr id="10" name="Shape 7"/>
          <p:cNvSpPr/>
          <p:nvPr/>
        </p:nvSpPr>
        <p:spPr>
          <a:xfrm>
            <a:off x="7068312" y="3117639"/>
            <a:ext cx="4480560" cy="0"/>
          </a:xfrm>
          <a:prstGeom prst="line">
            <a:avLst/>
          </a:prstGeom>
          <a:noFill/>
          <a:ln w="1905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1" name="Text 8"/>
          <p:cNvSpPr/>
          <p:nvPr/>
        </p:nvSpPr>
        <p:spPr>
          <a:xfrm>
            <a:off x="6949440" y="3678620"/>
            <a:ext cx="4480560" cy="57806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816852" y="4342033"/>
            <a:ext cx="4983480" cy="2296510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b="1" u="sng" dirty="0">
                <a:solidFill>
                  <a:srgbClr val="1E2A44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Observations :</a:t>
            </a:r>
          </a:p>
          <a:p>
            <a:pPr marL="228600" indent="-228600">
              <a:lnSpc>
                <a:spcPct val="115000"/>
              </a:lnSpc>
              <a:buFont typeface="+mj-lt"/>
              <a:buAutoNum type="arabicPeriod"/>
            </a:pPr>
            <a:r>
              <a:rPr lang="en-US" sz="1200" b="1" u="sng" dirty="0">
                <a:solidFill>
                  <a:srgbClr val="00206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Strongest Positive Effect : </a:t>
            </a:r>
            <a:r>
              <a:rPr lang="en-US" sz="1200" b="1" dirty="0">
                <a:solidFill>
                  <a:srgbClr val="C1652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rm</a:t>
            </a:r>
            <a:r>
              <a:rPr lang="en-US" sz="1200" dirty="0">
                <a:solidFill>
                  <a:srgbClr val="1E2A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1E2A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(rooms) has the most positive effect, for its 1unit Standardized increase, adds  ~$3,145 to Median House Price holding other factors fixed.</a:t>
            </a:r>
          </a:p>
          <a:p>
            <a:pPr marL="228600" indent="-228600">
              <a:lnSpc>
                <a:spcPct val="115000"/>
              </a:lnSpc>
              <a:buFont typeface="+mj-lt"/>
              <a:buAutoNum type="arabicPeriod"/>
            </a:pPr>
            <a:r>
              <a:rPr lang="en-US" sz="1200" b="1" u="sng" dirty="0">
                <a:solidFill>
                  <a:srgbClr val="00206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Strongest Negative Effect </a:t>
            </a:r>
            <a:r>
              <a:rPr lang="en-US" sz="1200" b="1" u="sng" dirty="0">
                <a:solidFill>
                  <a:srgbClr val="1E2A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: </a:t>
            </a:r>
            <a:r>
              <a:rPr lang="en-US" sz="1200" b="1" dirty="0">
                <a:solidFill>
                  <a:schemeClr val="accent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lstat</a:t>
            </a:r>
            <a:r>
              <a:rPr lang="en-US" sz="1200" dirty="0">
                <a:solidFill>
                  <a:schemeClr val="accent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1E2A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(lower-status %) has the most negative effect, for its </a:t>
            </a:r>
            <a:r>
              <a:rPr lang="en-US" sz="1200" b="1">
                <a:solidFill>
                  <a:srgbClr val="1E2A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1unit standardized increase</a:t>
            </a:r>
            <a:r>
              <a:rPr lang="en-US" sz="1200" b="1" dirty="0">
                <a:solidFill>
                  <a:srgbClr val="1E2A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, deducts ~ $3612 from Median House Price holding other factors fixed.</a:t>
            </a:r>
          </a:p>
          <a:p>
            <a:pPr marL="228600" indent="-228600">
              <a:lnSpc>
                <a:spcPct val="115000"/>
              </a:lnSpc>
              <a:buFont typeface="+mj-lt"/>
              <a:buAutoNum type="arabicPeriod"/>
            </a:pPr>
            <a:r>
              <a:rPr lang="en-US" sz="1200" b="1" u="sng" dirty="0">
                <a:solidFill>
                  <a:srgbClr val="00206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Coefficient of Determination </a:t>
            </a:r>
            <a:r>
              <a:rPr lang="en-US" sz="1200" b="1" u="sng" dirty="0">
                <a:solidFill>
                  <a:srgbClr val="1E2A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: </a:t>
            </a:r>
            <a:r>
              <a:rPr lang="en-US" sz="1200" b="1" dirty="0">
                <a:solidFill>
                  <a:srgbClr val="C1652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Test R^2  of ~ </a:t>
            </a:r>
            <a:r>
              <a:rPr lang="en-US" sz="1200" b="1" dirty="0">
                <a:solidFill>
                  <a:srgbClr val="C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0.67</a:t>
            </a:r>
            <a:r>
              <a:rPr lang="en-US" sz="1200" b="1" dirty="0">
                <a:solidFill>
                  <a:srgbClr val="1E2A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gives a moderate fit, implies a solid linear fit given real-estate data rarely follows a straight-line relationship perfectly.</a:t>
            </a:r>
            <a:endParaRPr lang="en-US" sz="1200" b="1" dirty="0">
              <a:solidFill>
                <a:srgbClr val="1E2A44"/>
              </a:solidFill>
              <a:highlight>
                <a:srgbClr val="FFFF00"/>
              </a:highlight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25000"/>
              </a:lnSpc>
              <a:buNone/>
            </a:pPr>
            <a:endParaRPr lang="en-US" sz="1300" b="1" u="sng" dirty="0">
              <a:solidFill>
                <a:srgbClr val="1E2A44"/>
              </a:solidFill>
              <a:highlight>
                <a:srgbClr val="FFFF00"/>
              </a:highlight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27" name="Text 3">
            <a:extLst>
              <a:ext uri="{FF2B5EF4-FFF2-40B4-BE49-F238E27FC236}">
                <a16:creationId xmlns:a16="http://schemas.microsoft.com/office/drawing/2014/main" id="{42349D31-5BF6-3909-7F06-5A6CB48C5BC9}"/>
              </a:ext>
            </a:extLst>
          </p:cNvPr>
          <p:cNvSpPr/>
          <p:nvPr/>
        </p:nvSpPr>
        <p:spPr>
          <a:xfrm>
            <a:off x="6789421" y="1764267"/>
            <a:ext cx="2538580" cy="9915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MSE</a:t>
            </a:r>
            <a:endParaRPr lang="en-US" sz="2000" b="1" dirty="0"/>
          </a:p>
        </p:txBody>
      </p:sp>
      <p:sp>
        <p:nvSpPr>
          <p:cNvPr id="31" name="Text 3">
            <a:extLst>
              <a:ext uri="{FF2B5EF4-FFF2-40B4-BE49-F238E27FC236}">
                <a16:creationId xmlns:a16="http://schemas.microsoft.com/office/drawing/2014/main" id="{4E2BC559-683C-47F0-C8A1-3AAAE7BC1C44}"/>
              </a:ext>
            </a:extLst>
          </p:cNvPr>
          <p:cNvSpPr/>
          <p:nvPr/>
        </p:nvSpPr>
        <p:spPr>
          <a:xfrm>
            <a:off x="9326880" y="1408391"/>
            <a:ext cx="2103120" cy="39466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R^2</a:t>
            </a:r>
            <a:endParaRPr lang="en-US" sz="2000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E1EA577-F51E-19AA-6F15-00A0311E5686}"/>
              </a:ext>
            </a:extLst>
          </p:cNvPr>
          <p:cNvSpPr txBox="1"/>
          <p:nvPr/>
        </p:nvSpPr>
        <p:spPr>
          <a:xfrm>
            <a:off x="7068312" y="3593277"/>
            <a:ext cx="1888235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400" b="1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0.751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5B77878-0CE0-F4D1-2C06-77A3D6B7F751}"/>
              </a:ext>
            </a:extLst>
          </p:cNvPr>
          <p:cNvSpPr txBox="1"/>
          <p:nvPr/>
        </p:nvSpPr>
        <p:spPr>
          <a:xfrm>
            <a:off x="9476967" y="3602547"/>
            <a:ext cx="201704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400" b="1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0.669</a:t>
            </a:r>
            <a:endParaRPr lang="en-IN" sz="3400" b="1" dirty="0">
              <a:solidFill>
                <a:schemeClr val="accent2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33F906B0-B031-ECED-F805-3DEA35BCC72F}"/>
              </a:ext>
            </a:extLst>
          </p:cNvPr>
          <p:cNvCxnSpPr>
            <a:cxnSpLocks/>
          </p:cNvCxnSpPr>
          <p:nvPr/>
        </p:nvCxnSpPr>
        <p:spPr>
          <a:xfrm flipH="1" flipV="1">
            <a:off x="9310949" y="2191109"/>
            <a:ext cx="16865" cy="73663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7166F529-7FF4-EFF4-1F6C-164BCA8D634C}"/>
              </a:ext>
            </a:extLst>
          </p:cNvPr>
          <p:cNvCxnSpPr>
            <a:cxnSpLocks/>
          </p:cNvCxnSpPr>
          <p:nvPr/>
        </p:nvCxnSpPr>
        <p:spPr>
          <a:xfrm flipH="1" flipV="1">
            <a:off x="9334904" y="3304895"/>
            <a:ext cx="19689" cy="859957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DF7DCEC2-F0F1-34EC-8B2C-3CBF3392E1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240" y="1993558"/>
            <a:ext cx="6339717" cy="4333478"/>
          </a:xfrm>
          <a:prstGeom prst="rect">
            <a:avLst/>
          </a:prstGeom>
        </p:spPr>
      </p:pic>
      <p:sp>
        <p:nvSpPr>
          <p:cNvPr id="19" name="TextBox 17">
            <a:extLst>
              <a:ext uri="{FF2B5EF4-FFF2-40B4-BE49-F238E27FC236}">
                <a16:creationId xmlns:a16="http://schemas.microsoft.com/office/drawing/2014/main" id="{1EF36E95-CE44-DC36-8524-F8D0864BAC6F}"/>
              </a:ext>
            </a:extLst>
          </p:cNvPr>
          <p:cNvSpPr txBox="1"/>
          <p:nvPr/>
        </p:nvSpPr>
        <p:spPr>
          <a:xfrm>
            <a:off x="269240" y="1166313"/>
            <a:ext cx="1127455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medv</a:t>
            </a:r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22.7965 - 1.0021(crim) + 0.6963(</a:t>
            </a:r>
            <a:r>
              <a:rPr lang="en-I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zn</a:t>
            </a:r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+ 0.2781(</a:t>
            </a:r>
            <a:r>
              <a:rPr lang="en-I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indus</a:t>
            </a:r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+ 0.7187(</a:t>
            </a:r>
            <a:r>
              <a:rPr lang="en-I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chas</a:t>
            </a:r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- 2.0223(</a:t>
            </a:r>
            <a:r>
              <a:rPr lang="en-I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nox</a:t>
            </a:r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+ 3.1452(rm) - 0.1760(age) - 3.0819(dis) + 2.2514(rad) - 1.7670(tax) - 2.0378(</a:t>
            </a:r>
            <a:r>
              <a:rPr lang="en-I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ptratio</a:t>
            </a:r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+ 1.1296(black) - 3.6117(</a:t>
            </a:r>
            <a:r>
              <a:rPr lang="en-I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lstat</a:t>
            </a:r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IN" sz="1800" b="1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ABEF6027-1ED2-E9E1-1ECD-45994B60A8B0}"/>
              </a:ext>
            </a:extLst>
          </p:cNvPr>
          <p:cNvSpPr/>
          <p:nvPr/>
        </p:nvSpPr>
        <p:spPr>
          <a:xfrm>
            <a:off x="269240" y="219457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1 — PARAMETRIC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0EB08E4D-E119-EC5C-5C44-87FDD60AF6C0}"/>
              </a:ext>
            </a:extLst>
          </p:cNvPr>
          <p:cNvSpPr/>
          <p:nvPr/>
        </p:nvSpPr>
        <p:spPr>
          <a:xfrm>
            <a:off x="269240" y="502485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Multiple Linear Regression </a:t>
            </a:r>
            <a:endParaRPr lang="en-US" sz="3000" dirty="0">
              <a:solidFill>
                <a:schemeClr val="bg2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7104092-3FA7-FE21-BC42-AAE437F962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633" y="1334153"/>
            <a:ext cx="5378726" cy="494055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19E9459-6FF8-2FDA-5CA3-C3067DA10C44}"/>
              </a:ext>
            </a:extLst>
          </p:cNvPr>
          <p:cNvSpPr txBox="1"/>
          <p:nvPr/>
        </p:nvSpPr>
        <p:spPr>
          <a:xfrm>
            <a:off x="5813658" y="911330"/>
            <a:ext cx="5975332" cy="578619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rtl="0">
              <a:buNone/>
            </a:pPr>
            <a:r>
              <a:rPr lang="en-IN" sz="1200" b="1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Model Quality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Strong predictors</a:t>
            </a: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The model has several highly significant variables (p &lt; 0.001, marked with ***)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 sz="12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Moderate </a:t>
            </a:r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fit</a:t>
            </a: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R² value appears to be </a:t>
            </a:r>
            <a:r>
              <a:rPr lang="en-IN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around 0.669 </a:t>
            </a: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(based on typical Boston housing models), </a:t>
            </a:r>
            <a:r>
              <a:rPr lang="en-IN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indicating ~67% </a:t>
            </a: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variance explained</a:t>
            </a:r>
          </a:p>
          <a:p>
            <a:pPr lvl="0" rtl="0"/>
            <a:endParaRPr lang="en-IN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1200" b="1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Key Findings</a:t>
            </a:r>
          </a:p>
          <a:p>
            <a:pPr rtl="0">
              <a:buNone/>
            </a:pPr>
            <a:r>
              <a:rPr lang="en-IN" sz="1200" b="1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Most Important Predictors (by significance):</a:t>
            </a:r>
            <a:endParaRPr lang="en-IN" sz="1200" dirty="0">
              <a:solidFill>
                <a:schemeClr val="tx1"/>
              </a:solidFill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rtl="0">
              <a:buFont typeface="+mj-lt"/>
              <a:buAutoNum type="arabicPeriod"/>
            </a:pPr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rm</a:t>
            </a: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(3.1452, p &lt; 0.001) - Number of rooms has the strongest positive effect</a:t>
            </a:r>
          </a:p>
          <a:p>
            <a:pPr marL="342900" lvl="0" indent="-342900" rtl="0">
              <a:buFont typeface="+mj-lt"/>
              <a:buAutoNum type="arabicPeriod"/>
            </a:pPr>
            <a:r>
              <a:rPr lang="en-IN" sz="1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lstat</a:t>
            </a: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(-3.6117, p &lt; 0.001) - Lower status population has strong negative effect</a:t>
            </a:r>
          </a:p>
          <a:p>
            <a:pPr marL="342900" lvl="0" indent="-342900" rtl="0">
              <a:buFont typeface="+mj-lt"/>
              <a:buAutoNum type="arabicPeriod"/>
            </a:pPr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</a:t>
            </a: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(-3.0819, p &lt; 0.001) - Distance to employment </a:t>
            </a:r>
            <a:r>
              <a:rPr lang="en-IN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centers</a:t>
            </a: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negatively affects price</a:t>
            </a:r>
          </a:p>
          <a:p>
            <a:pPr marL="342900" lvl="0" indent="-342900" rtl="0">
              <a:buFont typeface="+mj-lt"/>
              <a:buAutoNum type="arabicPeriod"/>
            </a:pPr>
            <a:r>
              <a:rPr lang="en-IN" sz="1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nox</a:t>
            </a: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(-2.0223, p &lt; 0.001) - Nitrogen oxide concentration reduces price</a:t>
            </a:r>
          </a:p>
          <a:p>
            <a:pPr marL="342900" lvl="0" indent="-342900" rtl="0">
              <a:buFont typeface="+mj-lt"/>
              <a:buAutoNum type="arabicPeriod"/>
            </a:pPr>
            <a:r>
              <a:rPr lang="en-IN" sz="1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ptratio</a:t>
            </a: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(-2.0378, p &lt; 0.001) - Pupil-teacher ratio negatively affects price</a:t>
            </a:r>
          </a:p>
          <a:p>
            <a:pPr lvl="0" rtl="0"/>
            <a:endParaRPr lang="en-IN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1200" b="1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Moderate Predictors:</a:t>
            </a:r>
            <a:endParaRPr lang="en-IN" sz="1200" dirty="0">
              <a:solidFill>
                <a:schemeClr val="tx1"/>
              </a:solidFill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 sz="1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chas</a:t>
            </a: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(0.7187, p = 0.0109) - Charles River proximity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rad</a:t>
            </a: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(2.2514, p = 0.0027) - Highway accessibility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black</a:t>
            </a: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(1.1296, p = 0.0004) - Population proportion</a:t>
            </a:r>
          </a:p>
          <a:p>
            <a:pPr lvl="0" rtl="0"/>
            <a:endParaRPr lang="en-IN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1200" b="1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Weak/Non-significant:</a:t>
            </a:r>
            <a:endParaRPr lang="en-IN" sz="1200" dirty="0">
              <a:solidFill>
                <a:schemeClr val="tx1"/>
              </a:solidFill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</a:t>
            </a: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(-0.1760, p = 0.7007) - Age of houses has minimal effect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 sz="1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indus</a:t>
            </a: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(0.2781, p = 0.5941) - Industrial proportion not significant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 sz="1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zn</a:t>
            </a: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(0.6963, p = 0.0966) - Borderline significance</a:t>
            </a:r>
          </a:p>
          <a:p>
            <a:pPr lvl="0" rtl="0"/>
            <a:endParaRPr lang="en-IN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1200" b="1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Model Diagnostics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Residuals</a:t>
            </a: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Fairly symmetric around -0.5954 median, ranging from -10.94 to 25.26 (some outliers)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Intercept</a:t>
            </a: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22.796535 (median predicted price)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Standardized predictors</a:t>
            </a: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All coefficients are comparable in magnitude, making interpretation easier</a:t>
            </a:r>
          </a:p>
          <a:p>
            <a:pPr lvl="0" rtl="0"/>
            <a:endParaRPr lang="en-IN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37736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2E042-4256-BFFC-20AB-D665BA2D9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5B60E07-ED42-5153-736A-253C10ECE4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3361687"/>
              </p:ext>
            </p:extLst>
          </p:nvPr>
        </p:nvGraphicFramePr>
        <p:xfrm>
          <a:off x="429208" y="1771048"/>
          <a:ext cx="7810567" cy="4577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63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18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26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526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490">
                <a:tc>
                  <a:txBody>
                    <a:bodyPr/>
                    <a:lstStyle/>
                    <a:p>
                      <a:pPr algn="ctr">
                        <a:defRPr sz="1400" b="1"/>
                      </a:pPr>
                      <a:r>
                        <a:rPr sz="1600" dirty="0"/>
                        <a:t>Index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1"/>
                      </a:pPr>
                      <a:r>
                        <a:rPr sz="1600" dirty="0"/>
                        <a:t>Actual </a:t>
                      </a:r>
                      <a:r>
                        <a:rPr sz="1600" dirty="0" err="1"/>
                        <a:t>medv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1"/>
                      </a:pPr>
                      <a:r>
                        <a:rPr sz="1600" dirty="0"/>
                        <a:t>Predicted </a:t>
                      </a:r>
                      <a:r>
                        <a:rPr sz="1600" dirty="0" err="1"/>
                        <a:t>medv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1"/>
                      </a:pPr>
                      <a:r>
                        <a:rPr sz="1600" dirty="0"/>
                        <a:t>Difference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49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sz="1600" dirty="0"/>
                        <a:t>173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sz="1600" dirty="0"/>
                        <a:t>23.6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28.99672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-5.4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49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sz="1600" dirty="0"/>
                        <a:t>274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sz="1600" dirty="0"/>
                        <a:t>32.4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36.02557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-3.63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49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sz="1600"/>
                        <a:t>491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sz="1600" dirty="0"/>
                        <a:t>13.6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14.81694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-1.22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49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sz="1600" dirty="0"/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sz="1600"/>
                        <a:t>22.8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25.03198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-2.23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49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sz="1600"/>
                        <a:t>452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sz="1600"/>
                        <a:t>16.1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18.76988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-2.67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49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sz="1600"/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sz="1600"/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sz="1600"/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sz="1600" dirty="0"/>
                        <a:t>...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49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sz="1600"/>
                        <a:t>412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sz="1600"/>
                        <a:t>17.9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-0.16424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18.06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49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sz="1600"/>
                        <a:t>436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sz="1600"/>
                        <a:t>9.6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13.68487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-4.08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49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sz="1600"/>
                        <a:t>411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sz="1600"/>
                        <a:t>17.2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16.1836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1.02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149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sz="1600"/>
                        <a:t>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sz="1600"/>
                        <a:t>22.5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22.27622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0.22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149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sz="1600"/>
                        <a:t>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sz="1600"/>
                        <a:t>21.4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24.47902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-3.08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7" name="Text 1">
            <a:extLst>
              <a:ext uri="{FF2B5EF4-FFF2-40B4-BE49-F238E27FC236}">
                <a16:creationId xmlns:a16="http://schemas.microsoft.com/office/drawing/2014/main" id="{66304708-BA26-85FD-0CD8-F9CB812564BC}"/>
              </a:ext>
            </a:extLst>
          </p:cNvPr>
          <p:cNvSpPr/>
          <p:nvPr/>
        </p:nvSpPr>
        <p:spPr>
          <a:xfrm>
            <a:off x="259013" y="779887"/>
            <a:ext cx="910667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</a:rPr>
              <a:t>Prediction of the </a:t>
            </a:r>
            <a:r>
              <a:rPr lang="en-US" sz="3000" b="1" i="1" dirty="0" err="1">
                <a:solidFill>
                  <a:srgbClr val="1E2A44"/>
                </a:solidFill>
                <a:latin typeface="Cambria" pitchFamily="34" charset="0"/>
                <a:ea typeface="Cambria" pitchFamily="34" charset="-122"/>
              </a:rPr>
              <a:t>medv</a:t>
            </a:r>
            <a:r>
              <a:rPr lang="en-US" sz="30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</a:rPr>
              <a:t> value (test set) using  </a:t>
            </a:r>
          </a:p>
          <a:p>
            <a:pPr marL="0" indent="0">
              <a:buNone/>
            </a:pPr>
            <a:r>
              <a:rPr lang="en-US" sz="30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</a:rPr>
              <a:t>Multiple Linear Regression </a:t>
            </a:r>
            <a:endParaRPr lang="en-US" sz="3000" dirty="0">
              <a:solidFill>
                <a:schemeClr val="bg2"/>
              </a:solidFill>
            </a:endParaRPr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E2F81B30-C1EC-78B6-8D42-035B74740E8F}"/>
              </a:ext>
            </a:extLst>
          </p:cNvPr>
          <p:cNvSpPr/>
          <p:nvPr/>
        </p:nvSpPr>
        <p:spPr>
          <a:xfrm>
            <a:off x="8640147" y="2503327"/>
            <a:ext cx="3339325" cy="1851346"/>
          </a:xfrm>
          <a:prstGeom prst="roundRect">
            <a:avLst>
              <a:gd name="adj" fmla="val 3922"/>
            </a:avLst>
          </a:prstGeom>
          <a:solidFill>
            <a:srgbClr val="1E2A44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9AE1E78A-69AD-CB04-1944-219A288F7AF4}"/>
              </a:ext>
            </a:extLst>
          </p:cNvPr>
          <p:cNvSpPr/>
          <p:nvPr/>
        </p:nvSpPr>
        <p:spPr>
          <a:xfrm>
            <a:off x="9040519" y="2526095"/>
            <a:ext cx="2538580" cy="7725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Accuracy</a:t>
            </a:r>
            <a:endParaRPr lang="en-US" sz="20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9B90FA5-DA34-7EE2-BC09-0AA5B1524FEB}"/>
              </a:ext>
            </a:extLst>
          </p:cNvPr>
          <p:cNvSpPr txBox="1"/>
          <p:nvPr/>
        </p:nvSpPr>
        <p:spPr>
          <a:xfrm>
            <a:off x="9365691" y="3211116"/>
            <a:ext cx="1888235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400" b="1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66.9 %</a:t>
            </a: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D943144E-5ACE-767F-6B4F-33762978E82D}"/>
              </a:ext>
            </a:extLst>
          </p:cNvPr>
          <p:cNvSpPr/>
          <p:nvPr/>
        </p:nvSpPr>
        <p:spPr>
          <a:xfrm>
            <a:off x="269240" y="219457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1 — PARAMETRIC</a:t>
            </a:r>
            <a:endParaRPr lang="en-US" sz="20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14563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C2F1C7A-4A0B-05D6-E82A-0AB365E2EC1C}"/>
              </a:ext>
            </a:extLst>
          </p:cNvPr>
          <p:cNvSpPr txBox="1"/>
          <p:nvPr/>
        </p:nvSpPr>
        <p:spPr>
          <a:xfrm>
            <a:off x="379329" y="597706"/>
            <a:ext cx="8064500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2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Tree </a:t>
            </a:r>
            <a:endParaRPr lang="en-US" sz="3200" dirty="0"/>
          </a:p>
          <a:p>
            <a:pPr algn="just"/>
            <a:endParaRPr lang="en-US" dirty="0"/>
          </a:p>
          <a:p>
            <a:pPr algn="just"/>
            <a:r>
              <a:rPr lang="en-US" dirty="0"/>
              <a:t>We create a shallow decision tree of depth 3 .This tree is intentionally</a:t>
            </a:r>
          </a:p>
          <a:p>
            <a:pPr algn="just"/>
            <a:r>
              <a:rPr lang="en-US" dirty="0"/>
              <a:t>small so that we can fully read and interpret every split by </a:t>
            </a:r>
          </a:p>
          <a:p>
            <a:pPr algn="just"/>
            <a:r>
              <a:rPr lang="en-US" dirty="0"/>
              <a:t>eye before moving to larger, tuned trees.</a:t>
            </a:r>
          </a:p>
          <a:p>
            <a:pPr algn="just"/>
            <a:br>
              <a:rPr lang="en-US" dirty="0">
                <a:solidFill>
                  <a:srgbClr val="C00000"/>
                </a:solidFill>
              </a:rPr>
            </a:br>
            <a:endParaRPr lang="en-US" dirty="0">
              <a:solidFill>
                <a:srgbClr val="C00000"/>
              </a:solidFill>
            </a:endParaRPr>
          </a:p>
          <a:p>
            <a:pPr algn="just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BC7393-D9D2-E406-B9FF-851609C6C0AA}"/>
              </a:ext>
            </a:extLst>
          </p:cNvPr>
          <p:cNvSpPr txBox="1"/>
          <p:nvPr/>
        </p:nvSpPr>
        <p:spPr>
          <a:xfrm>
            <a:off x="379329" y="197596"/>
            <a:ext cx="49546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kern="0" spc="2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2 — NON-PARAMETRIC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3C6AACE9-B57A-31CE-FB74-D6F7DB92C106}"/>
              </a:ext>
            </a:extLst>
          </p:cNvPr>
          <p:cNvSpPr/>
          <p:nvPr/>
        </p:nvSpPr>
        <p:spPr>
          <a:xfrm>
            <a:off x="7271842" y="141201"/>
            <a:ext cx="4812632" cy="2263131"/>
          </a:xfrm>
          <a:prstGeom prst="roundRect">
            <a:avLst>
              <a:gd name="adj" fmla="val 3922"/>
            </a:avLst>
          </a:prstGeom>
          <a:solidFill>
            <a:srgbClr val="1E2A44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5" name="Text 4">
            <a:extLst>
              <a:ext uri="{FF2B5EF4-FFF2-40B4-BE49-F238E27FC236}">
                <a16:creationId xmlns:a16="http://schemas.microsoft.com/office/drawing/2014/main" id="{AACA2D2C-E530-2ABC-E48F-27D5107B88BB}"/>
              </a:ext>
            </a:extLst>
          </p:cNvPr>
          <p:cNvSpPr/>
          <p:nvPr/>
        </p:nvSpPr>
        <p:spPr>
          <a:xfrm>
            <a:off x="7271841" y="485063"/>
            <a:ext cx="2525189" cy="736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400" dirty="0">
              <a:solidFill>
                <a:schemeClr val="accent2"/>
              </a:solidFill>
            </a:endParaRPr>
          </a:p>
        </p:txBody>
      </p:sp>
      <p:sp>
        <p:nvSpPr>
          <p:cNvPr id="26" name="Text 5">
            <a:extLst>
              <a:ext uri="{FF2B5EF4-FFF2-40B4-BE49-F238E27FC236}">
                <a16:creationId xmlns:a16="http://schemas.microsoft.com/office/drawing/2014/main" id="{F21B00AF-5182-F76F-8A25-D711A30757F9}"/>
              </a:ext>
            </a:extLst>
          </p:cNvPr>
          <p:cNvSpPr/>
          <p:nvPr/>
        </p:nvSpPr>
        <p:spPr>
          <a:xfrm>
            <a:off x="9428672" y="60440"/>
            <a:ext cx="2654358" cy="6643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MSE</a:t>
            </a:r>
            <a:endParaRPr lang="en-US" sz="2000" b="1" dirty="0"/>
          </a:p>
        </p:txBody>
      </p:sp>
      <p:sp>
        <p:nvSpPr>
          <p:cNvPr id="27" name="Text 6">
            <a:extLst>
              <a:ext uri="{FF2B5EF4-FFF2-40B4-BE49-F238E27FC236}">
                <a16:creationId xmlns:a16="http://schemas.microsoft.com/office/drawing/2014/main" id="{34790F99-B5D7-EC8C-02B3-2380346359C0}"/>
              </a:ext>
            </a:extLst>
          </p:cNvPr>
          <p:cNvSpPr/>
          <p:nvPr/>
        </p:nvSpPr>
        <p:spPr>
          <a:xfrm>
            <a:off x="9528468" y="485063"/>
            <a:ext cx="2545881" cy="7440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</a:rPr>
              <a:t>16.767</a:t>
            </a:r>
            <a:endParaRPr lang="en-US" sz="3400" dirty="0">
              <a:solidFill>
                <a:schemeClr val="accent2"/>
              </a:solidFill>
            </a:endParaRPr>
          </a:p>
        </p:txBody>
      </p:sp>
      <p:sp>
        <p:nvSpPr>
          <p:cNvPr id="29" name="Text 3">
            <a:extLst>
              <a:ext uri="{FF2B5EF4-FFF2-40B4-BE49-F238E27FC236}">
                <a16:creationId xmlns:a16="http://schemas.microsoft.com/office/drawing/2014/main" id="{22659530-B1E6-2D08-C6A6-0DED1CD2A9B0}"/>
              </a:ext>
            </a:extLst>
          </p:cNvPr>
          <p:cNvSpPr/>
          <p:nvPr/>
        </p:nvSpPr>
        <p:spPr>
          <a:xfrm>
            <a:off x="7079732" y="0"/>
            <a:ext cx="2855579" cy="7725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MSE</a:t>
            </a:r>
            <a:endParaRPr lang="en-US" sz="2000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01FA2B9-5BE0-FBF0-3BE7-1349A5BDB6BD}"/>
              </a:ext>
            </a:extLst>
          </p:cNvPr>
          <p:cNvSpPr txBox="1"/>
          <p:nvPr/>
        </p:nvSpPr>
        <p:spPr>
          <a:xfrm>
            <a:off x="7640233" y="1653694"/>
            <a:ext cx="1888235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400" b="1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0.817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7FEBEE7-4CE3-D7F5-4C8B-F1CE925800AD}"/>
              </a:ext>
            </a:extLst>
          </p:cNvPr>
          <p:cNvSpPr txBox="1"/>
          <p:nvPr/>
        </p:nvSpPr>
        <p:spPr>
          <a:xfrm>
            <a:off x="9256143" y="1549704"/>
            <a:ext cx="316141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400" b="1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0.771</a:t>
            </a:r>
          </a:p>
        </p:txBody>
      </p:sp>
      <p:sp>
        <p:nvSpPr>
          <p:cNvPr id="33" name="Text 3">
            <a:extLst>
              <a:ext uri="{FF2B5EF4-FFF2-40B4-BE49-F238E27FC236}">
                <a16:creationId xmlns:a16="http://schemas.microsoft.com/office/drawing/2014/main" id="{FF82B950-9472-252F-4839-B5A56B0C2997}"/>
              </a:ext>
            </a:extLst>
          </p:cNvPr>
          <p:cNvSpPr/>
          <p:nvPr/>
        </p:nvSpPr>
        <p:spPr>
          <a:xfrm>
            <a:off x="6930329" y="597706"/>
            <a:ext cx="3055120" cy="17523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R^2</a:t>
            </a:r>
            <a:endParaRPr lang="en-US" sz="2000" b="1" dirty="0"/>
          </a:p>
        </p:txBody>
      </p:sp>
      <p:sp>
        <p:nvSpPr>
          <p:cNvPr id="34" name="Text 3">
            <a:extLst>
              <a:ext uri="{FF2B5EF4-FFF2-40B4-BE49-F238E27FC236}">
                <a16:creationId xmlns:a16="http://schemas.microsoft.com/office/drawing/2014/main" id="{5602787A-EC74-B8A8-51D0-B8C0190FB8DB}"/>
              </a:ext>
            </a:extLst>
          </p:cNvPr>
          <p:cNvSpPr/>
          <p:nvPr/>
        </p:nvSpPr>
        <p:spPr>
          <a:xfrm>
            <a:off x="9221465" y="950356"/>
            <a:ext cx="3055120" cy="9992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R^2</a:t>
            </a:r>
            <a:endParaRPr lang="en-US" sz="2000" b="1" dirty="0"/>
          </a:p>
        </p:txBody>
      </p:sp>
      <p:sp>
        <p:nvSpPr>
          <p:cNvPr id="4" name="Shape 7">
            <a:extLst>
              <a:ext uri="{FF2B5EF4-FFF2-40B4-BE49-F238E27FC236}">
                <a16:creationId xmlns:a16="http://schemas.microsoft.com/office/drawing/2014/main" id="{A1C65EB9-E1A5-708B-A566-B48EA6DB420E}"/>
              </a:ext>
            </a:extLst>
          </p:cNvPr>
          <p:cNvSpPr/>
          <p:nvPr/>
        </p:nvSpPr>
        <p:spPr>
          <a:xfrm>
            <a:off x="7472322" y="1221955"/>
            <a:ext cx="4480560" cy="0"/>
          </a:xfrm>
          <a:prstGeom prst="line">
            <a:avLst/>
          </a:prstGeom>
          <a:noFill/>
          <a:ln w="1905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ECD3AD4-A530-1818-4A71-2A93126CDC33}"/>
              </a:ext>
            </a:extLst>
          </p:cNvPr>
          <p:cNvCxnSpPr>
            <a:cxnSpLocks/>
          </p:cNvCxnSpPr>
          <p:nvPr/>
        </p:nvCxnSpPr>
        <p:spPr>
          <a:xfrm flipH="1" flipV="1">
            <a:off x="9695737" y="318985"/>
            <a:ext cx="16865" cy="73663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2B45657-4E3A-2821-FBB2-13C24E086A4D}"/>
              </a:ext>
            </a:extLst>
          </p:cNvPr>
          <p:cNvCxnSpPr>
            <a:cxnSpLocks/>
          </p:cNvCxnSpPr>
          <p:nvPr/>
        </p:nvCxnSpPr>
        <p:spPr>
          <a:xfrm flipH="1" flipV="1">
            <a:off x="9720578" y="1415759"/>
            <a:ext cx="16865" cy="73663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 6">
            <a:extLst>
              <a:ext uri="{FF2B5EF4-FFF2-40B4-BE49-F238E27FC236}">
                <a16:creationId xmlns:a16="http://schemas.microsoft.com/office/drawing/2014/main" id="{244D4B35-DA97-4CFE-CD87-F98437A72730}"/>
              </a:ext>
            </a:extLst>
          </p:cNvPr>
          <p:cNvSpPr/>
          <p:nvPr/>
        </p:nvSpPr>
        <p:spPr>
          <a:xfrm>
            <a:off x="4804526" y="222755"/>
            <a:ext cx="7422224" cy="11587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</a:rPr>
              <a:t>15.902</a:t>
            </a:r>
            <a:endParaRPr lang="en-US" sz="3400" dirty="0">
              <a:solidFill>
                <a:schemeClr val="accent2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E0D1A62-CBD0-345B-61AD-71F419F806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770" y="2261715"/>
            <a:ext cx="12071230" cy="4596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4406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CDD7F-298F-8908-AB26-6F205154A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F4B2E19-02D3-2EF9-81A9-07FE8EF504E1}"/>
              </a:ext>
            </a:extLst>
          </p:cNvPr>
          <p:cNvSpPr/>
          <p:nvPr/>
        </p:nvSpPr>
        <p:spPr>
          <a:xfrm>
            <a:off x="269240" y="219457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2 — NON-PARAMETRIC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9E25284-15E4-F6D5-A329-B8F2D9D32871}"/>
              </a:ext>
            </a:extLst>
          </p:cNvPr>
          <p:cNvSpPr/>
          <p:nvPr/>
        </p:nvSpPr>
        <p:spPr>
          <a:xfrm>
            <a:off x="269240" y="502485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Tree :</a:t>
            </a:r>
            <a:endParaRPr lang="en-US" sz="3000" dirty="0">
              <a:solidFill>
                <a:schemeClr val="bg2"/>
              </a:solidFill>
            </a:endParaRP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54A6FBFA-CF97-BF04-2C19-FB350ECDCC3E}"/>
              </a:ext>
            </a:extLst>
          </p:cNvPr>
          <p:cNvSpPr/>
          <p:nvPr/>
        </p:nvSpPr>
        <p:spPr>
          <a:xfrm>
            <a:off x="6949440" y="1410831"/>
            <a:ext cx="4480560" cy="2143387"/>
          </a:xfrm>
          <a:prstGeom prst="roundRect">
            <a:avLst>
              <a:gd name="adj" fmla="val 3922"/>
            </a:avLst>
          </a:prstGeom>
          <a:solidFill>
            <a:srgbClr val="1E2A44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CA553F7C-0830-F7F3-65D5-59E4E9D53ABA}"/>
              </a:ext>
            </a:extLst>
          </p:cNvPr>
          <p:cNvSpPr/>
          <p:nvPr/>
        </p:nvSpPr>
        <p:spPr>
          <a:xfrm>
            <a:off x="6995160" y="1891923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</a:rPr>
              <a:t>7.079</a:t>
            </a:r>
            <a:endParaRPr lang="en-US" sz="3400" dirty="0">
              <a:solidFill>
                <a:schemeClr val="accent2"/>
              </a:solidFill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B63241E4-50CA-353B-4249-937B369F86E3}"/>
              </a:ext>
            </a:extLst>
          </p:cNvPr>
          <p:cNvSpPr/>
          <p:nvPr/>
        </p:nvSpPr>
        <p:spPr>
          <a:xfrm>
            <a:off x="9070848" y="1502980"/>
            <a:ext cx="2404872" cy="6643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MSE</a:t>
            </a:r>
            <a:endParaRPr lang="en-US" sz="2000" b="1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0EF4F8C4-1B50-33FA-3C71-F57BD4573E8A}"/>
              </a:ext>
            </a:extLst>
          </p:cNvPr>
          <p:cNvSpPr/>
          <p:nvPr/>
        </p:nvSpPr>
        <p:spPr>
          <a:xfrm>
            <a:off x="9272479" y="1885562"/>
            <a:ext cx="2194560" cy="6464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</a:rPr>
              <a:t>8.554</a:t>
            </a:r>
            <a:endParaRPr lang="en-US" sz="3400" dirty="0">
              <a:solidFill>
                <a:schemeClr val="accent2"/>
              </a:solidFill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3D4BE820-90AD-89B9-4601-F85CE03E2211}"/>
              </a:ext>
            </a:extLst>
          </p:cNvPr>
          <p:cNvSpPr/>
          <p:nvPr/>
        </p:nvSpPr>
        <p:spPr>
          <a:xfrm>
            <a:off x="6949440" y="3678620"/>
            <a:ext cx="4480560" cy="57806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1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9">
                <a:extLst>
                  <a:ext uri="{FF2B5EF4-FFF2-40B4-BE49-F238E27FC236}">
                    <a16:creationId xmlns:a16="http://schemas.microsoft.com/office/drawing/2014/main" id="{0AAEB6F3-953A-3537-2ECF-5A5AEBFE72B1}"/>
                  </a:ext>
                </a:extLst>
              </p:cNvPr>
              <p:cNvSpPr/>
              <p:nvPr/>
            </p:nvSpPr>
            <p:spPr>
              <a:xfrm>
                <a:off x="6789421" y="366022"/>
                <a:ext cx="4828610" cy="874990"/>
              </a:xfrm>
              <a:prstGeom prst="rect">
                <a:avLst/>
              </a:prstGeom>
              <a:solidFill>
                <a:schemeClr val="bg2">
                  <a:lumMod val="10000"/>
                  <a:lumOff val="9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 anchor="t"/>
              <a:lstStyle/>
              <a:p>
                <a:pPr marL="0" indent="0">
                  <a:lnSpc>
                    <a:spcPct val="125000"/>
                  </a:lnSpc>
                  <a:buNone/>
                </a:pPr>
                <a:r>
                  <a:rPr lang="en-US" sz="1300" b="1" u="sng" dirty="0">
                    <a:solidFill>
                      <a:srgbClr val="1E2A44"/>
                    </a:solidFill>
                    <a:highlight>
                      <a:srgbClr val="FFFF00"/>
                    </a:highlight>
                    <a:latin typeface="Times New Roman" panose="02020603050405020304" pitchFamily="18" charset="0"/>
                    <a:ea typeface="Calibri" pitchFamily="34" charset="-122"/>
                    <a:cs typeface="Times New Roman" panose="02020603050405020304" pitchFamily="18" charset="0"/>
                  </a:rPr>
                  <a:t>Comment : </a:t>
                </a:r>
              </a:p>
              <a:p>
                <a:pPr marL="0" indent="0">
                  <a:lnSpc>
                    <a:spcPct val="125000"/>
                  </a:lnSpc>
                  <a:buNone/>
                </a:pPr>
                <a:r>
                  <a:rPr lang="en-US" sz="1300" b="1" dirty="0">
                    <a:solidFill>
                      <a:srgbClr val="1E2A44"/>
                    </a:solidFill>
                    <a:latin typeface="Times New Roman" panose="02020603050405020304" pitchFamily="18" charset="0"/>
                    <a:ea typeface="Calibri" pitchFamily="34" charset="-122"/>
                    <a:cs typeface="Times New Roman" panose="02020603050405020304" pitchFamily="18" charset="0"/>
                  </a:rPr>
                  <a:t>The best depth we can infer from the test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300" b="1" i="1" smtClean="0">
                            <a:solidFill>
                              <a:srgbClr val="1E2A44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300" b="1" i="1" smtClean="0">
                            <a:solidFill>
                              <a:srgbClr val="1E2A44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Times New Roman" panose="02020603050405020304" pitchFamily="18" charset="0"/>
                          </a:rPr>
                          <m:t>𝑹</m:t>
                        </m:r>
                      </m:e>
                      <m:sup>
                        <m:r>
                          <a:rPr lang="en-US" sz="1300" b="1" i="1" smtClean="0">
                            <a:solidFill>
                              <a:srgbClr val="1E2A44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1300" b="1" dirty="0">
                    <a:solidFill>
                      <a:srgbClr val="1E2A44"/>
                    </a:solidFill>
                    <a:latin typeface="Times New Roman" panose="02020603050405020304" pitchFamily="18" charset="0"/>
                    <a:ea typeface="Calibri" pitchFamily="34" charset="-122"/>
                    <a:cs typeface="Times New Roman" panose="02020603050405020304" pitchFamily="18" charset="0"/>
                  </a:rPr>
                  <a:t>(0.883) is 5 .</a:t>
                </a:r>
              </a:p>
              <a:p>
                <a:pPr>
                  <a:lnSpc>
                    <a:spcPct val="125000"/>
                  </a:lnSpc>
                </a:pPr>
                <a:r>
                  <a:rPr lang="en-US" sz="1400" b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Calibri" pitchFamily="34" charset="-122"/>
                    <a:cs typeface="Times New Roman" panose="02020603050405020304" pitchFamily="18" charset="0"/>
                  </a:rPr>
                  <a:t>( capped at 3, min. 5 samples/leaf, to limit overfitting and maximize  MSE.</a:t>
                </a:r>
                <a:endParaRPr lang="en-US" sz="1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25000"/>
                  </a:lnSpc>
                  <a:buNone/>
                </a:pPr>
                <a:endParaRPr lang="en-US" sz="1300" b="1" u="sng" dirty="0">
                  <a:solidFill>
                    <a:srgbClr val="1E2A44"/>
                  </a:solidFill>
                  <a:highlight>
                    <a:srgbClr val="FFFF00"/>
                  </a:highlight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Text 9">
                <a:extLst>
                  <a:ext uri="{FF2B5EF4-FFF2-40B4-BE49-F238E27FC236}">
                    <a16:creationId xmlns:a16="http://schemas.microsoft.com/office/drawing/2014/main" id="{0AAEB6F3-953A-3537-2ECF-5A5AEBFE72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9421" y="366022"/>
                <a:ext cx="4828610" cy="874990"/>
              </a:xfrm>
              <a:prstGeom prst="rect">
                <a:avLst/>
              </a:prstGeom>
              <a:blipFill>
                <a:blip r:embed="rId3"/>
                <a:stretch>
                  <a:fillRect l="-252" b="-3219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 11">
            <a:extLst>
              <a:ext uri="{FF2B5EF4-FFF2-40B4-BE49-F238E27FC236}">
                <a16:creationId xmlns:a16="http://schemas.microsoft.com/office/drawing/2014/main" id="{49F66F5B-616C-6751-C2DA-A10BE92DDB55}"/>
              </a:ext>
            </a:extLst>
          </p:cNvPr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27" name="Text 3">
            <a:extLst>
              <a:ext uri="{FF2B5EF4-FFF2-40B4-BE49-F238E27FC236}">
                <a16:creationId xmlns:a16="http://schemas.microsoft.com/office/drawing/2014/main" id="{9AF14355-07CE-DF5B-BF09-CAC4EAE317A2}"/>
              </a:ext>
            </a:extLst>
          </p:cNvPr>
          <p:cNvSpPr/>
          <p:nvPr/>
        </p:nvSpPr>
        <p:spPr>
          <a:xfrm>
            <a:off x="6789421" y="1442540"/>
            <a:ext cx="2538580" cy="7725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MSE</a:t>
            </a:r>
            <a:endParaRPr lang="en-US" sz="2000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C3FA47D-EFCC-1C6E-11CD-109C6EBAAB0D}"/>
              </a:ext>
            </a:extLst>
          </p:cNvPr>
          <p:cNvSpPr txBox="1"/>
          <p:nvPr/>
        </p:nvSpPr>
        <p:spPr>
          <a:xfrm>
            <a:off x="7148322" y="2805240"/>
            <a:ext cx="1888235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400" b="1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0.919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2759F94-5BBD-DEA9-88A8-B65CBD6631C6}"/>
              </a:ext>
            </a:extLst>
          </p:cNvPr>
          <p:cNvSpPr txBox="1"/>
          <p:nvPr/>
        </p:nvSpPr>
        <p:spPr>
          <a:xfrm>
            <a:off x="9328001" y="2788458"/>
            <a:ext cx="201704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400" b="1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0.883</a:t>
            </a:r>
          </a:p>
        </p:txBody>
      </p:sp>
      <p:sp>
        <p:nvSpPr>
          <p:cNvPr id="16" name="Text 3">
            <a:extLst>
              <a:ext uri="{FF2B5EF4-FFF2-40B4-BE49-F238E27FC236}">
                <a16:creationId xmlns:a16="http://schemas.microsoft.com/office/drawing/2014/main" id="{020E3DEF-D368-C694-C153-0F1B9FF43207}"/>
              </a:ext>
            </a:extLst>
          </p:cNvPr>
          <p:cNvSpPr/>
          <p:nvPr/>
        </p:nvSpPr>
        <p:spPr>
          <a:xfrm>
            <a:off x="6839559" y="2332636"/>
            <a:ext cx="2538580" cy="7725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R^2</a:t>
            </a:r>
            <a:endParaRPr lang="en-US" sz="2000" b="1" dirty="0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0F678EF0-7FE1-D61D-B7C6-2DEE89954F2D}"/>
              </a:ext>
            </a:extLst>
          </p:cNvPr>
          <p:cNvSpPr/>
          <p:nvPr/>
        </p:nvSpPr>
        <p:spPr>
          <a:xfrm>
            <a:off x="9130695" y="2378008"/>
            <a:ext cx="2538580" cy="7725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R^2</a:t>
            </a:r>
            <a:endParaRPr lang="en-US" sz="2000" b="1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3FC090B-321F-FE4E-ED83-C62FAB9FC961}"/>
              </a:ext>
            </a:extLst>
          </p:cNvPr>
          <p:cNvCxnSpPr>
            <a:cxnSpLocks/>
          </p:cNvCxnSpPr>
          <p:nvPr/>
        </p:nvCxnSpPr>
        <p:spPr>
          <a:xfrm flipH="1" flipV="1">
            <a:off x="9231157" y="1523608"/>
            <a:ext cx="16865" cy="73663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AEB3905-57D2-7061-A9B7-D8012EADB7DB}"/>
              </a:ext>
            </a:extLst>
          </p:cNvPr>
          <p:cNvCxnSpPr>
            <a:cxnSpLocks/>
          </p:cNvCxnSpPr>
          <p:nvPr/>
        </p:nvCxnSpPr>
        <p:spPr>
          <a:xfrm flipH="1" flipV="1">
            <a:off x="9242148" y="2604445"/>
            <a:ext cx="16865" cy="73663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hape 7">
            <a:extLst>
              <a:ext uri="{FF2B5EF4-FFF2-40B4-BE49-F238E27FC236}">
                <a16:creationId xmlns:a16="http://schemas.microsoft.com/office/drawing/2014/main" id="{497C6657-E51F-34E8-3930-AD0A65EF5DAD}"/>
              </a:ext>
            </a:extLst>
          </p:cNvPr>
          <p:cNvSpPr/>
          <p:nvPr/>
        </p:nvSpPr>
        <p:spPr>
          <a:xfrm>
            <a:off x="7077083" y="2491619"/>
            <a:ext cx="4225273" cy="0"/>
          </a:xfrm>
          <a:prstGeom prst="line">
            <a:avLst/>
          </a:prstGeom>
          <a:noFill/>
          <a:ln w="1905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497B51E-8CCE-532C-4DD1-EA1BB09D2F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240" y="985847"/>
            <a:ext cx="6231567" cy="565269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C73947D-F772-1D95-351E-6E874C22E1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0798" y="3646368"/>
            <a:ext cx="5383571" cy="3114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6495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E1140-2A4E-B523-4D9F-2D0C8C76D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7">
            <a:extLst>
              <a:ext uri="{FF2B5EF4-FFF2-40B4-BE49-F238E27FC236}">
                <a16:creationId xmlns:a16="http://schemas.microsoft.com/office/drawing/2014/main" id="{3742AA99-1F09-C262-0C85-CD3617C52D44}"/>
              </a:ext>
            </a:extLst>
          </p:cNvPr>
          <p:cNvSpPr/>
          <p:nvPr/>
        </p:nvSpPr>
        <p:spPr>
          <a:xfrm>
            <a:off x="7068312" y="3117639"/>
            <a:ext cx="448056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1D5E6FE9-199D-067A-C1C3-B336CEB3CE54}"/>
              </a:ext>
            </a:extLst>
          </p:cNvPr>
          <p:cNvSpPr/>
          <p:nvPr/>
        </p:nvSpPr>
        <p:spPr>
          <a:xfrm>
            <a:off x="6949440" y="3678620"/>
            <a:ext cx="4480560" cy="57806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09D9375E-CC52-547C-206F-C309BB351037}"/>
              </a:ext>
            </a:extLst>
          </p:cNvPr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2408A19-B741-92AB-C922-80CB95C8DCD3}"/>
              </a:ext>
            </a:extLst>
          </p:cNvPr>
          <p:cNvCxnSpPr>
            <a:cxnSpLocks/>
          </p:cNvCxnSpPr>
          <p:nvPr/>
        </p:nvCxnSpPr>
        <p:spPr>
          <a:xfrm flipH="1" flipV="1">
            <a:off x="9310452" y="2169417"/>
            <a:ext cx="17362" cy="75832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762F0E47-0A61-8712-CBDD-292478422EEE}"/>
              </a:ext>
            </a:extLst>
          </p:cNvPr>
          <p:cNvCxnSpPr>
            <a:cxnSpLocks/>
          </p:cNvCxnSpPr>
          <p:nvPr/>
        </p:nvCxnSpPr>
        <p:spPr>
          <a:xfrm flipH="1" flipV="1">
            <a:off x="9334904" y="3304895"/>
            <a:ext cx="19689" cy="85995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BB92847-CA9E-7920-D800-D3EBECC5799E}"/>
              </a:ext>
            </a:extLst>
          </p:cNvPr>
          <p:cNvSpPr txBox="1"/>
          <p:nvPr/>
        </p:nvSpPr>
        <p:spPr>
          <a:xfrm>
            <a:off x="261818" y="539497"/>
            <a:ext cx="60292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Final Decision Tree at depth 5 </a:t>
            </a:r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267C325C-FDD6-0505-5EC6-66762E750358}"/>
              </a:ext>
            </a:extLst>
          </p:cNvPr>
          <p:cNvSpPr/>
          <p:nvPr/>
        </p:nvSpPr>
        <p:spPr>
          <a:xfrm>
            <a:off x="261818" y="75510"/>
            <a:ext cx="7322622" cy="4639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2 — NON-PARAMETRIC</a:t>
            </a:r>
            <a:endParaRPr lang="en-US" sz="2000" dirty="0">
              <a:solidFill>
                <a:schemeClr val="accent2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E6CC0F-08FB-6275-1B6D-4FEA0C22CAF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079"/>
          <a:stretch>
            <a:fillRect/>
          </a:stretch>
        </p:blipFill>
        <p:spPr>
          <a:xfrm>
            <a:off x="485193" y="1250829"/>
            <a:ext cx="11206064" cy="5497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4568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2E3E6F3-F41B-1B0B-779D-235A533F5B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3123457"/>
              </p:ext>
            </p:extLst>
          </p:nvPr>
        </p:nvGraphicFramePr>
        <p:xfrm>
          <a:off x="429208" y="1665171"/>
          <a:ext cx="8077200" cy="4683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9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9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9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0312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rPr dirty="0"/>
                        <a:t>Index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rPr dirty="0"/>
                        <a:t>Actual </a:t>
                      </a:r>
                      <a:r>
                        <a:rPr dirty="0" err="1"/>
                        <a:t>medv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Predicted medv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Difference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312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dirty="0"/>
                        <a:t>173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dirty="0"/>
                        <a:t>23.6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22.73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0.87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312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dirty="0"/>
                        <a:t>274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dirty="0"/>
                        <a:t>32.4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30.05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2.35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312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491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13.6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19.73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-6.13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312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22.8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20.36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2.44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312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452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16.1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15.91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0312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...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0312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412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17.9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13.17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4.73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0312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436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9.6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14.14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-4.54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0312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411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17.2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13.17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4.03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0312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20.36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2.14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0312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dirty="0"/>
                        <a:t>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21.4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22.73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dirty="0"/>
                        <a:t>-1.33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7" name="Text 1">
            <a:extLst>
              <a:ext uri="{FF2B5EF4-FFF2-40B4-BE49-F238E27FC236}">
                <a16:creationId xmlns:a16="http://schemas.microsoft.com/office/drawing/2014/main" id="{1639CD82-26F7-AC10-47A2-1FD5FB64BC2D}"/>
              </a:ext>
            </a:extLst>
          </p:cNvPr>
          <p:cNvSpPr/>
          <p:nvPr/>
        </p:nvSpPr>
        <p:spPr>
          <a:xfrm>
            <a:off x="269240" y="793180"/>
            <a:ext cx="910667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</a:rPr>
              <a:t>Prediction of the </a:t>
            </a:r>
            <a:r>
              <a:rPr lang="en-US" sz="3000" b="1" i="1" dirty="0" err="1">
                <a:solidFill>
                  <a:srgbClr val="1E2A44"/>
                </a:solidFill>
                <a:latin typeface="Cambria" pitchFamily="34" charset="0"/>
                <a:ea typeface="Cambria" pitchFamily="34" charset="-122"/>
              </a:rPr>
              <a:t>medv</a:t>
            </a:r>
            <a:r>
              <a:rPr lang="en-US" sz="30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</a:rPr>
              <a:t> value (test set) using Decision Tree</a:t>
            </a:r>
            <a:endParaRPr lang="en-US" sz="3000" dirty="0">
              <a:solidFill>
                <a:schemeClr val="bg2"/>
              </a:solidFill>
            </a:endParaRPr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7202C7EB-96F8-9D22-37C3-501ACA054040}"/>
              </a:ext>
            </a:extLst>
          </p:cNvPr>
          <p:cNvSpPr/>
          <p:nvPr/>
        </p:nvSpPr>
        <p:spPr>
          <a:xfrm>
            <a:off x="8640147" y="2503327"/>
            <a:ext cx="3339325" cy="1851346"/>
          </a:xfrm>
          <a:prstGeom prst="roundRect">
            <a:avLst>
              <a:gd name="adj" fmla="val 3922"/>
            </a:avLst>
          </a:prstGeom>
          <a:solidFill>
            <a:srgbClr val="1E2A44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E1E864F1-A97F-1802-148D-5ACA1DD1D342}"/>
              </a:ext>
            </a:extLst>
          </p:cNvPr>
          <p:cNvSpPr/>
          <p:nvPr/>
        </p:nvSpPr>
        <p:spPr>
          <a:xfrm>
            <a:off x="9040519" y="2526095"/>
            <a:ext cx="2538580" cy="7725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Accuracy</a:t>
            </a:r>
            <a:endParaRPr lang="en-US" sz="20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3F5DF59-7A6C-BB2C-5E84-687B3C839DF4}"/>
              </a:ext>
            </a:extLst>
          </p:cNvPr>
          <p:cNvSpPr txBox="1"/>
          <p:nvPr/>
        </p:nvSpPr>
        <p:spPr>
          <a:xfrm>
            <a:off x="9365691" y="3211116"/>
            <a:ext cx="1888235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400" b="1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88.34%</a:t>
            </a: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FE4DD682-393C-9AEE-5F1D-C45467BA25A0}"/>
              </a:ext>
            </a:extLst>
          </p:cNvPr>
          <p:cNvSpPr/>
          <p:nvPr/>
        </p:nvSpPr>
        <p:spPr>
          <a:xfrm>
            <a:off x="269240" y="219457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2 — NON-PARAMETRIC</a:t>
            </a:r>
            <a:endParaRPr lang="en-US" sz="20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18350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Actual vs. Predicted medv (Test Set) for both models :</a:t>
            </a:r>
            <a:endParaRPr lang="en-US" sz="3000" dirty="0">
              <a:solidFill>
                <a:schemeClr val="bg2"/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782BF1-6ACD-39FB-F15E-0A4871D5A080}"/>
              </a:ext>
            </a:extLst>
          </p:cNvPr>
          <p:cNvSpPr txBox="1"/>
          <p:nvPr/>
        </p:nvSpPr>
        <p:spPr>
          <a:xfrm>
            <a:off x="457200" y="249114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000" b="1" spc="300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COMPARISON-DIAGNOSTICS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A2D13B-9D01-EE74-E5EF-6DE96874EE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675" y="1225296"/>
            <a:ext cx="10460736" cy="46543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4B559C2-C561-0870-0792-2EEE3131FC23}"/>
              </a:ext>
            </a:extLst>
          </p:cNvPr>
          <p:cNvSpPr txBox="1"/>
          <p:nvPr/>
        </p:nvSpPr>
        <p:spPr>
          <a:xfrm>
            <a:off x="1026695" y="5897917"/>
            <a:ext cx="46201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</a:rPr>
              <a:t>MLR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949910-2281-EB22-0693-8407F22906BF}"/>
              </a:ext>
            </a:extLst>
          </p:cNvPr>
          <p:cNvSpPr txBox="1"/>
          <p:nvPr/>
        </p:nvSpPr>
        <p:spPr>
          <a:xfrm>
            <a:off x="6553200" y="5897917"/>
            <a:ext cx="41468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</a:rPr>
              <a:t>Decision Tree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COMPARISON-HEAD-TO-HEAD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Comparing the Two Approaches :</a:t>
            </a:r>
            <a:endParaRPr lang="en-US" sz="3000" dirty="0">
              <a:solidFill>
                <a:schemeClr val="bg2"/>
              </a:solidFill>
            </a:endParaRPr>
          </a:p>
        </p:txBody>
      </p:sp>
      <p:sp>
        <p:nvSpPr>
          <p:cNvPr id="6" name="Shape 2"/>
          <p:cNvSpPr/>
          <p:nvPr/>
        </p:nvSpPr>
        <p:spPr>
          <a:xfrm>
            <a:off x="6785715" y="3962901"/>
            <a:ext cx="5265814" cy="2420885"/>
          </a:xfrm>
          <a:prstGeom prst="roundRect">
            <a:avLst>
              <a:gd name="adj" fmla="val 5000"/>
            </a:avLst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en-IN" dirty="0"/>
          </a:p>
        </p:txBody>
      </p:sp>
      <p:sp>
        <p:nvSpPr>
          <p:cNvPr id="7" name="Text 3"/>
          <p:cNvSpPr/>
          <p:nvPr/>
        </p:nvSpPr>
        <p:spPr>
          <a:xfrm>
            <a:off x="6785715" y="4106173"/>
            <a:ext cx="5176109" cy="20455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u="sng" dirty="0">
                <a:solidFill>
                  <a:schemeClr val="bg1"/>
                </a:solidFill>
                <a:latin typeface="+mj-lt"/>
                <a:ea typeface="Calibri" pitchFamily="34" charset="-122"/>
                <a:cs typeface="Times New Roman" panose="02020603050405020304" pitchFamily="18" charset="0"/>
              </a:rPr>
              <a:t>Winner: Decision Tree</a:t>
            </a:r>
          </a:p>
          <a:p>
            <a:pPr marL="0" indent="0" algn="ctr">
              <a:buNone/>
            </a:pPr>
            <a:endParaRPr lang="en-US" b="1" dirty="0">
              <a:highlight>
                <a:srgbClr val="FFFF00"/>
              </a:highlight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algn="just"/>
            <a:r>
              <a:rPr lang="en-IN" sz="1600" dirty="0">
                <a:solidFill>
                  <a:schemeClr val="bg1"/>
                </a:solidFill>
              </a:rPr>
              <a:t>Based on the charts in the image, the original slide had a major contradiction: the graphs clearly show the </a:t>
            </a:r>
            <a:r>
              <a:rPr lang="en-IN" sz="1600" b="1" dirty="0">
                <a:solidFill>
                  <a:schemeClr val="bg1"/>
                </a:solidFill>
              </a:rPr>
              <a:t>Decision Tree</a:t>
            </a:r>
            <a:r>
              <a:rPr lang="en-IN" sz="1600" dirty="0">
                <a:solidFill>
                  <a:schemeClr val="bg1"/>
                </a:solidFill>
              </a:rPr>
              <a:t> outperforming </a:t>
            </a:r>
            <a:r>
              <a:rPr lang="en-IN" sz="1600" b="1" dirty="0">
                <a:solidFill>
                  <a:schemeClr val="bg1"/>
                </a:solidFill>
              </a:rPr>
              <a:t>Multiple Linear Regression (MLR)</a:t>
            </a:r>
            <a:r>
              <a:rPr lang="en-IN" sz="1600" dirty="0">
                <a:solidFill>
                  <a:schemeClr val="bg1"/>
                </a:solidFill>
              </a:rPr>
              <a:t> (it has a much lower Test MSE of 8.554 vs 24.291, and a much higher Test R² of 0.883 vs 0.669). I have completely overhauled the conclusions in the table and the winner box to reflect this reality accurately</a:t>
            </a:r>
            <a:r>
              <a:rPr lang="en-IN" sz="1200" dirty="0">
                <a:solidFill>
                  <a:schemeClr val="bg1"/>
                </a:solidFill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6949440" y="4892040"/>
            <a:ext cx="4526280" cy="1581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B1AD2A45-B3C0-DC14-F2A1-142AC45F12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0950564"/>
              </p:ext>
            </p:extLst>
          </p:nvPr>
        </p:nvGraphicFramePr>
        <p:xfrm>
          <a:off x="6740862" y="1435608"/>
          <a:ext cx="5265814" cy="2356659"/>
        </p:xfrm>
        <a:graphic>
          <a:graphicData uri="http://schemas.openxmlformats.org/drawingml/2006/table">
            <a:tbl>
              <a:tblPr/>
              <a:tblGrid>
                <a:gridCol w="1705292">
                  <a:extLst>
                    <a:ext uri="{9D8B030D-6E8A-4147-A177-3AD203B41FA5}">
                      <a16:colId xmlns:a16="http://schemas.microsoft.com/office/drawing/2014/main" val="901750961"/>
                    </a:ext>
                  </a:extLst>
                </a:gridCol>
                <a:gridCol w="1919405">
                  <a:extLst>
                    <a:ext uri="{9D8B030D-6E8A-4147-A177-3AD203B41FA5}">
                      <a16:colId xmlns:a16="http://schemas.microsoft.com/office/drawing/2014/main" val="4206794125"/>
                    </a:ext>
                  </a:extLst>
                </a:gridCol>
                <a:gridCol w="1641117">
                  <a:extLst>
                    <a:ext uri="{9D8B030D-6E8A-4147-A177-3AD203B41FA5}">
                      <a16:colId xmlns:a16="http://schemas.microsoft.com/office/drawing/2014/main" val="3316992370"/>
                    </a:ext>
                  </a:extLst>
                </a:gridCol>
              </a:tblGrid>
              <a:tr h="14559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Criterion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Multiple Linear Regression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Decision Tree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39438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b="1" dirty="0">
                          <a:solidFill>
                            <a:schemeClr val="tx2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Prediction Accuracy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</a:t>
                      </a:r>
                      <a:r>
                        <a:rPr lang="en-IN" sz="1000" b="1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ow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b="1" dirty="0">
                          <a:solidFill>
                            <a:srgbClr val="00B05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High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7192200"/>
                  </a:ext>
                </a:extLst>
              </a:tr>
              <a:tr h="14559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b="1" dirty="0">
                          <a:solidFill>
                            <a:schemeClr val="tx2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Test MSE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</a:t>
                      </a:r>
                      <a:r>
                        <a:rPr lang="en-IN" sz="1000" b="1" dirty="0" err="1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igh</a:t>
                      </a:r>
                      <a:endParaRPr lang="en-IN" sz="1000" b="1" dirty="0">
                        <a:solidFill>
                          <a:srgbClr val="FF000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b="1" dirty="0">
                          <a:solidFill>
                            <a:srgbClr val="00B05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Low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371389"/>
                  </a:ext>
                </a:extLst>
              </a:tr>
              <a:tr h="25353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b="1" dirty="0">
                          <a:solidFill>
                            <a:schemeClr val="tx2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Test (R^2)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</a:t>
                      </a:r>
                      <a:r>
                        <a:rPr lang="en-IN" sz="1000" b="1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ow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b="1" dirty="0">
                          <a:solidFill>
                            <a:srgbClr val="00B05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High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5163188"/>
                  </a:ext>
                </a:extLst>
              </a:tr>
              <a:tr h="2365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b="1" dirty="0">
                          <a:solidFill>
                            <a:schemeClr val="tx2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Interpretability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b="1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High (regression eqn.)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b="1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Moderate (decision rules)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4777977"/>
                  </a:ext>
                </a:extLst>
              </a:tr>
              <a:tr h="14559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b="1" dirty="0">
                          <a:solidFill>
                            <a:schemeClr val="tx2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Handles Nonlinearity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b="1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b="1" dirty="0">
                          <a:solidFill>
                            <a:srgbClr val="00B05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3553153"/>
                  </a:ext>
                </a:extLst>
              </a:tr>
              <a:tr h="14559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b="1" dirty="0">
                          <a:solidFill>
                            <a:schemeClr val="tx2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Prediction Pattern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b="1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Continuous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b="1" dirty="0">
                          <a:solidFill>
                            <a:srgbClr val="00B05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Piecewise constant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0981097"/>
                  </a:ext>
                </a:extLst>
              </a:tr>
              <a:tr h="14559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b="1" dirty="0">
                          <a:solidFill>
                            <a:schemeClr val="tx2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Generalization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b="1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Fair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b="1" dirty="0">
                          <a:solidFill>
                            <a:srgbClr val="00B05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Good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8852060"/>
                  </a:ext>
                </a:extLst>
              </a:tr>
              <a:tr h="2365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Preferred for this Dataset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000" b="1" dirty="0">
                        <a:solidFill>
                          <a:srgbClr val="00B05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b="1" dirty="0">
                          <a:solidFill>
                            <a:srgbClr val="00B05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✔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4748838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EE411FCD-CBF0-3D14-1FAC-9C91CAD039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471" y="1435608"/>
            <a:ext cx="6424921" cy="510235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Key Findings</a:t>
            </a:r>
            <a:endParaRPr lang="en-US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246086"/>
            <a:ext cx="3611880" cy="1646178"/>
          </a:xfrm>
          <a:prstGeom prst="roundRect">
            <a:avLst>
              <a:gd name="adj" fmla="val 2051"/>
            </a:avLst>
          </a:prstGeom>
          <a:solidFill>
            <a:srgbClr val="EEF1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48640" y="1242204"/>
            <a:ext cx="3611880" cy="548640"/>
          </a:xfrm>
          <a:prstGeom prst="roundRect">
            <a:avLst>
              <a:gd name="adj" fmla="val 13333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48640" y="747048"/>
            <a:ext cx="3611880" cy="153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41248" y="1890048"/>
            <a:ext cx="3154680" cy="32763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22283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rm and lstat are the strongest linear correlates of medv; tax and rad show multicollinearity.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343400" y="1280160"/>
            <a:ext cx="3611880" cy="1612104"/>
          </a:xfrm>
          <a:prstGeom prst="roundRect">
            <a:avLst>
              <a:gd name="adj" fmla="val 2051"/>
            </a:avLst>
          </a:prstGeom>
          <a:solidFill>
            <a:srgbClr val="EEF1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343400" y="1254281"/>
            <a:ext cx="3611880" cy="548640"/>
          </a:xfrm>
          <a:prstGeom prst="roundRect">
            <a:avLst>
              <a:gd name="adj" fmla="val 13333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343400" y="747048"/>
            <a:ext cx="3611880" cy="153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572000" y="1953797"/>
            <a:ext cx="3154680" cy="32125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22283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Simple, interpretable, and stable  but limited to additive, linear relationships.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138160" y="1234440"/>
            <a:ext cx="3611880" cy="1709928"/>
          </a:xfrm>
          <a:prstGeom prst="roundRect">
            <a:avLst>
              <a:gd name="adj" fmla="val 2051"/>
            </a:avLst>
          </a:prstGeom>
          <a:solidFill>
            <a:srgbClr val="EEF1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8138160" y="1234440"/>
            <a:ext cx="3611880" cy="548640"/>
          </a:xfrm>
          <a:prstGeom prst="roundRect">
            <a:avLst>
              <a:gd name="adj" fmla="val 13333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138160" y="685800"/>
            <a:ext cx="36118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366760" y="1890049"/>
            <a:ext cx="3154680" cy="3276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22283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Captures non-linear patterns and interactions automatically.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48640" y="55321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146017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24" name="Text 3">
            <a:extLst>
              <a:ext uri="{FF2B5EF4-FFF2-40B4-BE49-F238E27FC236}">
                <a16:creationId xmlns:a16="http://schemas.microsoft.com/office/drawing/2014/main" id="{59CBF03E-9227-D49A-2547-3C00DCB67B36}"/>
              </a:ext>
            </a:extLst>
          </p:cNvPr>
          <p:cNvSpPr/>
          <p:nvPr/>
        </p:nvSpPr>
        <p:spPr>
          <a:xfrm>
            <a:off x="7030528" y="3950208"/>
            <a:ext cx="44451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Winner: Decision Tree</a:t>
            </a:r>
            <a:endParaRPr lang="en-US" sz="1400" dirty="0"/>
          </a:p>
        </p:txBody>
      </p:sp>
      <p:sp>
        <p:nvSpPr>
          <p:cNvPr id="30" name="Text 2">
            <a:extLst>
              <a:ext uri="{FF2B5EF4-FFF2-40B4-BE49-F238E27FC236}">
                <a16:creationId xmlns:a16="http://schemas.microsoft.com/office/drawing/2014/main" id="{61CC4E03-704F-2C71-F4B3-C312034E00E9}"/>
              </a:ext>
            </a:extLst>
          </p:cNvPr>
          <p:cNvSpPr/>
          <p:nvPr/>
        </p:nvSpPr>
        <p:spPr>
          <a:xfrm>
            <a:off x="3430524" y="3058234"/>
            <a:ext cx="50566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spc="300" dirty="0">
                <a:solidFill>
                  <a:schemeClr val="tx2">
                    <a:lumMod val="90000"/>
                    <a:lumOff val="1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Recommendation</a:t>
            </a:r>
          </a:p>
        </p:txBody>
      </p:sp>
      <p:sp>
        <p:nvSpPr>
          <p:cNvPr id="32" name="Text 3">
            <a:extLst>
              <a:ext uri="{FF2B5EF4-FFF2-40B4-BE49-F238E27FC236}">
                <a16:creationId xmlns:a16="http://schemas.microsoft.com/office/drawing/2014/main" id="{AA80B882-EE78-C0ED-024B-0BCC3CC5EA6E}"/>
              </a:ext>
            </a:extLst>
          </p:cNvPr>
          <p:cNvSpPr/>
          <p:nvPr/>
        </p:nvSpPr>
        <p:spPr>
          <a:xfrm>
            <a:off x="841248" y="3580995"/>
            <a:ext cx="10908792" cy="1745383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Tree outperforms the MLR model – however the model has high variance which can be dealt with using Cost Complexity Pruning and Random Forest Method.</a:t>
            </a:r>
            <a:endParaRPr lang="en-US" sz="2600" dirty="0"/>
          </a:p>
        </p:txBody>
      </p:sp>
      <p:sp>
        <p:nvSpPr>
          <p:cNvPr id="34" name="Text 4">
            <a:extLst>
              <a:ext uri="{FF2B5EF4-FFF2-40B4-BE49-F238E27FC236}">
                <a16:creationId xmlns:a16="http://schemas.microsoft.com/office/drawing/2014/main" id="{9AB57634-4575-0BCF-DD62-687FDEAB4CB1}"/>
              </a:ext>
            </a:extLst>
          </p:cNvPr>
          <p:cNvSpPr/>
          <p:nvPr/>
        </p:nvSpPr>
        <p:spPr>
          <a:xfrm>
            <a:off x="374903" y="5452584"/>
            <a:ext cx="11542471" cy="402506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Choosing between them is a trade-off between accuracy and interpretability — not a search for a single 'best' model.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323654" y="2145455"/>
            <a:ext cx="5200650" cy="25389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6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Thank You </a:t>
            </a:r>
            <a:r>
              <a:rPr lang="en-US" sz="66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You</a:t>
            </a:r>
            <a:endParaRPr lang="en-US" sz="6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-1" y="3169328"/>
            <a:ext cx="12277725" cy="1311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Priyanshu Dey · Oindrila Chakraborty · Anubrata Roy · Sulagna Roy · Apratim Dey Tapadar</a:t>
            </a:r>
            <a:endParaRPr lang="en-US" sz="2000" dirty="0">
              <a:solidFill>
                <a:schemeClr val="accent2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Shape 0">
            <a:extLst>
              <a:ext uri="{FF2B5EF4-FFF2-40B4-BE49-F238E27FC236}">
                <a16:creationId xmlns:a16="http://schemas.microsoft.com/office/drawing/2014/main" id="{2D447F73-7C3A-A59D-3E04-0882B9D85F79}"/>
              </a:ext>
            </a:extLst>
          </p:cNvPr>
          <p:cNvSpPr/>
          <p:nvPr/>
        </p:nvSpPr>
        <p:spPr>
          <a:xfrm>
            <a:off x="9528048" y="-882396"/>
            <a:ext cx="3840480" cy="3840480"/>
          </a:xfrm>
          <a:prstGeom prst="ellipse">
            <a:avLst/>
          </a:prstGeom>
          <a:solidFill>
            <a:srgbClr val="2F40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1">
            <a:extLst>
              <a:ext uri="{FF2B5EF4-FFF2-40B4-BE49-F238E27FC236}">
                <a16:creationId xmlns:a16="http://schemas.microsoft.com/office/drawing/2014/main" id="{90EFD841-DAF6-B703-2EA8-032AE30F759E}"/>
              </a:ext>
            </a:extLst>
          </p:cNvPr>
          <p:cNvSpPr/>
          <p:nvPr/>
        </p:nvSpPr>
        <p:spPr>
          <a:xfrm>
            <a:off x="10311769" y="4417085"/>
            <a:ext cx="2743200" cy="2743200"/>
          </a:xfrm>
          <a:prstGeom prst="ellipse">
            <a:avLst/>
          </a:prstGeom>
          <a:solidFill>
            <a:srgbClr val="2F40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0">
            <a:extLst>
              <a:ext uri="{FF2B5EF4-FFF2-40B4-BE49-F238E27FC236}">
                <a16:creationId xmlns:a16="http://schemas.microsoft.com/office/drawing/2014/main" id="{C7757D82-E03A-308C-EEFB-D2F8A25710DC}"/>
              </a:ext>
            </a:extLst>
          </p:cNvPr>
          <p:cNvSpPr/>
          <p:nvPr/>
        </p:nvSpPr>
        <p:spPr>
          <a:xfrm>
            <a:off x="-1371600" y="-882396"/>
            <a:ext cx="3840480" cy="3840480"/>
          </a:xfrm>
          <a:prstGeom prst="ellipse">
            <a:avLst/>
          </a:prstGeom>
          <a:solidFill>
            <a:srgbClr val="2F40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">
            <a:extLst>
              <a:ext uri="{FF2B5EF4-FFF2-40B4-BE49-F238E27FC236}">
                <a16:creationId xmlns:a16="http://schemas.microsoft.com/office/drawing/2014/main" id="{14DD3A9C-3063-E700-F0D1-61F9331BFDC6}"/>
              </a:ext>
            </a:extLst>
          </p:cNvPr>
          <p:cNvSpPr/>
          <p:nvPr/>
        </p:nvSpPr>
        <p:spPr>
          <a:xfrm>
            <a:off x="-492711" y="4480560"/>
            <a:ext cx="2743200" cy="2743200"/>
          </a:xfrm>
          <a:prstGeom prst="ellipse">
            <a:avLst/>
          </a:prstGeom>
          <a:solidFill>
            <a:srgbClr val="2F40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5">
            <a:extLst>
              <a:ext uri="{FF2B5EF4-FFF2-40B4-BE49-F238E27FC236}">
                <a16:creationId xmlns:a16="http://schemas.microsoft.com/office/drawing/2014/main" id="{4E26706C-729C-AAB8-B716-33F615D95052}"/>
              </a:ext>
            </a:extLst>
          </p:cNvPr>
          <p:cNvSpPr/>
          <p:nvPr/>
        </p:nvSpPr>
        <p:spPr>
          <a:xfrm>
            <a:off x="4813935" y="4684395"/>
            <a:ext cx="2011680" cy="0"/>
          </a:xfrm>
          <a:prstGeom prst="line">
            <a:avLst/>
          </a:prstGeom>
          <a:noFill/>
          <a:ln w="31750">
            <a:solidFill>
              <a:srgbClr val="C165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5">
            <a:extLst>
              <a:ext uri="{FF2B5EF4-FFF2-40B4-BE49-F238E27FC236}">
                <a16:creationId xmlns:a16="http://schemas.microsoft.com/office/drawing/2014/main" id="{560273B3-7285-E6BF-C761-E684D8A45B6F}"/>
              </a:ext>
            </a:extLst>
          </p:cNvPr>
          <p:cNvSpPr/>
          <p:nvPr/>
        </p:nvSpPr>
        <p:spPr>
          <a:xfrm>
            <a:off x="4813935" y="2179320"/>
            <a:ext cx="2011680" cy="0"/>
          </a:xfrm>
          <a:prstGeom prst="line">
            <a:avLst/>
          </a:prstGeom>
          <a:noFill/>
          <a:ln w="31750">
            <a:solidFill>
              <a:srgbClr val="C165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1171</TotalTime>
  <Words>1774</Words>
  <Application>Microsoft Office PowerPoint</Application>
  <PresentationFormat>Widescreen</PresentationFormat>
  <Paragraphs>407</Paragraphs>
  <Slides>22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3" baseType="lpstr">
      <vt:lpstr>Aptos</vt:lpstr>
      <vt:lpstr>Aptos Display</vt:lpstr>
      <vt:lpstr>Aptos Narrow</vt:lpstr>
      <vt:lpstr>Arial</vt:lpstr>
      <vt:lpstr>Bodoni MT Black</vt:lpstr>
      <vt:lpstr>Calibri</vt:lpstr>
      <vt:lpstr>Cambria</vt:lpstr>
      <vt:lpstr>Cambria Math</vt:lpstr>
      <vt:lpstr>Consolas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SULAGNA ROY CREATIONS</dc:creator>
  <cp:lastModifiedBy>SULAGNA ROY CREATIONS</cp:lastModifiedBy>
  <cp:revision>25</cp:revision>
  <dcterms:created xsi:type="dcterms:W3CDTF">2026-07-25T20:05:19Z</dcterms:created>
  <dcterms:modified xsi:type="dcterms:W3CDTF">2026-09-24T11:51:00Z</dcterms:modified>
</cp:coreProperties>
</file>